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 el curso: seis clases, una por semana, con demostraciones en vivo en Gemini y un trabajo práctico al final de cada encuentro.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objetivo y la idea fuerza. Anticipar que toda la clase va a girar alrededor de un solo caso: la cafetería. Primero lo vamos a resolver mal con la IA, y después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Panorama general, unos 10 minutos. Sin ejemplos todavía: los ejemplos vienen en las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Pasar a Gemini, en chat temporal. Actuar como un usuario entusiasta y apurado. Creíble, sin ridiculizar: la idea es que los alumnos se reconozcan.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los cuatro prompts en Gemini, en ese orden, comentando como usuario apurado: "bueno, está completo", "¡ya tengo el plan!", "¡dice que sí, entonces la abro!", "listo, ya sé qué leyes son". Si en el prompt 3 Gemini se niega a decidir, retomarlo en el análisis: ni la herramienta puede decidir sin información. Volver a esta diapositiva al terminar.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Salir del personaje. Recorrer cada fila: cada error da lugar a un criterio de buen uso. Estos cinco criterios son los que vamos a aplicar en la segunda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lo que decimos muchas veces es un deseo o un síntoma. Recursos y restricciones: tiempo, dinero, conocimientos,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la plantilla en pantalla unos segundos. Es una de las herramientas para llevarse y la van a usar en el trabajo práctico.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antes y el después. Señalar cada parte de la plantilla dentro del texto: dónde estoy, adónde quiero llegar, recursos, restricción y criterio de éxito.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partes responden al "qué" y las etapas al "cuándo". Las dos miradas se complementan: primero identifico las partes, después las ordeno en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preguntas son el método para desagregar sin IA, que es lo que les pide el práctico en el punto 3. En la diapositiva siguiente las aplicamos en vivo al caso de la cafetería.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 este esquema en voz alta aplicando las preguntas guía, antes de mostrarlo completo. ¿Qué necesito? Permisos, un local, plata, productos. ¿Quién más interviene? Municipio, Rentas, proveedores, clientes. ¿Qué puede salir mal? Alquilar en una zona no habilitada, lo que nos lleva a la dependencia. Este esquema lo armamos sin IA; en la segunda demo lo comparamos con lo que propone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Unos dos minutos, sin demo. Mostrar que la plantilla y las preguntas guía sirven para cualquier problema, no solo para abrir un negocio. Sirve de modelo para el trabajo práctico.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un chat temporal NUEVO en Gemini, para que no arrastre la conversación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 completos para copiar en Gemini: 1) Quiero abrir una cafetería pequeña en San Fernando del Valle de Catamarca. Tengo algunos ahorros, no tengo experiencia en gastronomía y sigo trabajando en relación de dependencia. Mi objetivo es tener el local habilitado y abierto al público en un año. Antes de darme soluciones, haceme las preguntas que necesitás para entender bien mi situación. 2) Ayudame a dividir este proyecto en partes y en etapas ordenadas en el tiempo. Indicá qué etapas dependen de otras. Todavía no me des el detalle de cada una, solo la estructura. 3) Concentrémonos solo en la etapa de inscripción impositiva. Explicame qué tengo que hacer, en qué orden, y qué normas y organismos intervienen en Catamarca. 4) Verificar en vivo un dato concreto, por ejemplo en digesto.catamarca.gob.ar. 5) No quiero que decidas por mí. ¿Qué información necesito reunir y qué preguntas tendría que responderme para decidir si me conviene abrir la cafetería? En el paso 2, comparar con el esquema armado sin IA: qué agregar, qué quitar, si el orden tiene sentido. La IA propone, vos revisás.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fila por fila, recordando lo que se vio en pantalla en cada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final de la clase. Dejar un silencio antes de pasar a las técnicas para llevarse.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herramientas concretas que pueden usar desde hoy, con cualquier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consigna completa. Aclarar que la desagregación propia va antes de consultar a la IA: así se ve qué aporta la herramienta y qué aporta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dudas sobre el práctico.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anticipar la clase 2 y recordar la entrega del práctico. Abrir un espacio breve para dudas.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F2A3A"/>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F2A3A"/>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F2A3A"/>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F2A3A"/>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9A4A"/>
          </a:solidFill>
          <a:ln/>
        </p:spPr>
      </p:sp>
      <p:sp>
        <p:nvSpPr>
          <p:cNvPr id="3" name="Text 1"/>
          <p:cNvSpPr/>
          <p:nvPr/>
        </p:nvSpPr>
        <p:spPr>
          <a:xfrm>
            <a:off x="812800" y="153044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89A4A"/>
                </a:solidFill>
                <a:latin typeface="Nunito Sans" pitchFamily="34" charset="0"/>
                <a:ea typeface="Nunito Sans" pitchFamily="34" charset="-122"/>
                <a:cs typeface="Nunito Sans" pitchFamily="34" charset="-120"/>
              </a:rPr>
              <a:t>PENSAMIENTO CRÍTICO Y RESOLUCIÓN DE PROBLEMAS EN ENTORNOS DE IA</a:t>
            </a:r>
            <a:endParaRPr lang="en-US" sz="1400" dirty="0"/>
          </a:p>
        </p:txBody>
      </p:sp>
      <p:sp>
        <p:nvSpPr>
          <p:cNvPr id="4" name="Text 2"/>
          <p:cNvSpPr/>
          <p:nvPr>
            <p:ph type="title"/>
          </p:nvPr>
        </p:nvSpPr>
        <p:spPr>
          <a:xfrm>
            <a:off x="812800" y="2033290"/>
            <a:ext cx="10883392" cy="24257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4EE"/>
                </a:solidFill>
                <a:latin typeface="Domine" pitchFamily="18" charset="0"/>
                <a:ea typeface="Domine" pitchFamily="18" charset="-122"/>
                <a:cs typeface="Domine" pitchFamily="18" charset="-120"/>
              </a:rPr>
              <a:t>Clase 2</a:t>
            </a:r>
            <a:endParaRPr lang="en-US" sz="6000" dirty="0"/>
          </a:p>
          <a:p>
            <a:pPr algn="l" indent="0" marL="0">
              <a:lnSpc>
                <a:spcPts val="6300"/>
              </a:lnSpc>
              <a:buNone/>
            </a:pPr>
            <a:r>
              <a:rPr lang="en-US" sz="6000" b="1" i="0" dirty="0">
                <a:solidFill>
                  <a:srgbClr val="F7F4EE"/>
                </a:solidFill>
                <a:latin typeface="Domine" pitchFamily="18" charset="0"/>
                <a:ea typeface="Domine" pitchFamily="18" charset="-122"/>
                <a:cs typeface="Domine" pitchFamily="18" charset="-120"/>
              </a:rPr>
              <a:t>Del problema a los pasos para resolverlo</a:t>
            </a:r>
            <a:endParaRPr lang="en-US" sz="6000" dirty="0"/>
          </a:p>
        </p:txBody>
      </p:sp>
      <p:sp>
        <p:nvSpPr>
          <p:cNvPr id="5" name="Text 3"/>
          <p:cNvSpPr/>
          <p:nvPr/>
        </p:nvSpPr>
        <p:spPr>
          <a:xfrm>
            <a:off x="812800" y="4687590"/>
            <a:ext cx="85026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E"/>
                </a:solidFill>
                <a:latin typeface="Nunito Sans" pitchFamily="34" charset="0"/>
                <a:ea typeface="Nunito Sans" pitchFamily="34" charset="-122"/>
                <a:cs typeface="Nunito Sans" pitchFamily="34" charset="-120"/>
              </a:rPr>
              <a:t>Cómo formular y desagregar un problema antes y durante el uso de la inteligencia artificial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pic>
        <p:nvPicPr>
          <p:cNvPr id="2" name="Image 0" descr="El modelo es la persona; la aplicación, el WhatsApp">    </p:cNvPr>
          <p:cNvPicPr>
            <a:picLocks noChangeAspect="1"/>
          </p:cNvPicPr>
          <p:nvPr/>
        </p:nvPicPr>
        <p:blipFill>
          <a:blip r:embed="rId1"/>
          <a:srcRect l="0" r="0" t="-6162" b="-6162"/>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pic>
        <p:nvPicPr>
          <p:cNvPr id="2" name="Image 0" descr="Cómo hablamos con un modelo a través de una aplicación">    </p:cNvPr>
          <p:cNvPicPr>
            <a:picLocks noChangeAspect="1"/>
          </p:cNvPicPr>
          <p:nvPr/>
        </p:nvPicPr>
        <p:blipFill>
          <a:blip r:embed="rId1"/>
          <a:srcRect l="0" r="0" t="-8364" b="-8364"/>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pic>
        <p:nvPicPr>
          <p:cNvPr id="2" name="Image 0" descr="El contexto: lo que el modelo no puede adivinar">    </p:cNvPr>
          <p:cNvPicPr>
            <a:picLocks noChangeAspect="1"/>
          </p:cNvPicPr>
          <p:nvPr/>
        </p:nvPicPr>
        <p:blipFill>
          <a:blip r:embed="rId1"/>
          <a:srcRect l="0" r="0" t="-6339" b="-6339"/>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pic>
        <p:nvPicPr>
          <p:cNvPr id="2" name="Image 0" descr="Del chat al agente: tres niveles de autonomía">    </p:cNvPr>
          <p:cNvPicPr>
            <a:picLocks noChangeAspect="1"/>
          </p:cNvPicPr>
          <p:nvPr/>
        </p:nvPicPr>
        <p:blipFill>
          <a:blip r:embed="rId1"/>
          <a:srcRect l="0" r="0" t="-8456" b="-8456"/>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pic>
        <p:nvPicPr>
          <p:cNvPr id="2" name="Image 0" descr="Nivel 1: Chat, responde con lo que aprendió">    </p:cNvPr>
          <p:cNvPicPr>
            <a:picLocks noChangeAspect="1"/>
          </p:cNvPicPr>
          <p:nvPr/>
        </p:nvPicPr>
        <p:blipFill>
          <a:blip r:embed="rId1"/>
          <a:srcRect l="0" r="0" t="-5898" b="-5898"/>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pic>
        <p:nvPicPr>
          <p:cNvPr id="2" name="Image 0" descr="Nivel 2: Asistente con herramientas, hace lo que le pedís">    </p:cNvPr>
          <p:cNvPicPr>
            <a:picLocks noChangeAspect="1"/>
          </p:cNvPicPr>
          <p:nvPr/>
        </p:nvPicPr>
        <p:blipFill>
          <a:blip r:embed="rId1"/>
          <a:srcRect l="0" r="0" t="-6517" b="-6517"/>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pic>
        <p:nvPicPr>
          <p:cNvPr id="2" name="Image 0" descr="Nivel 3: Agente, le das un objetivo y decide los pasos">    </p:cNvPr>
          <p:cNvPicPr>
            <a:picLocks noChangeAspect="1"/>
          </p:cNvPicPr>
          <p:nvPr/>
        </p:nvPicPr>
        <p:blipFill>
          <a:blip r:embed="rId1"/>
          <a:srcRect l="0" r="0" t="-5637" b="-5637"/>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pic>
        <p:nvPicPr>
          <p:cNvPr id="2" name="Image 0" descr="ChatGPT hoy se comporta más como agente que como chat">    </p:cNvPr>
          <p:cNvPicPr>
            <a:picLocks noChangeAspect="1"/>
          </p:cNvPicPr>
          <p:nvPr/>
        </p:nvPicPr>
        <p:blipFill>
          <a:blip r:embed="rId1"/>
          <a:srcRect l="0" r="0" t="-6428" b="-6428"/>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pic>
        <p:nvPicPr>
          <p:cNvPr id="2" name="Image 0" descr="Los tres niveles, lado a lado">    </p:cNvPr>
          <p:cNvPicPr>
            <a:picLocks noChangeAspect="1"/>
          </p:cNvPicPr>
          <p:nvPr/>
        </p:nvPicPr>
        <p:blipFill>
          <a:blip r:embed="rId1"/>
          <a:srcRect l="0" r="0" t="-6206" b="-6206"/>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pic>
        <p:nvPicPr>
          <p:cNvPr id="2" name="Image 0" descr="Las herramientas le dan manos al modelo">    </p:cNvPr>
          <p:cNvPicPr>
            <a:picLocks noChangeAspect="1"/>
          </p:cNvPicPr>
          <p:nvPr/>
        </p:nvPicPr>
        <p:blipFill>
          <a:blip r:embed="rId1"/>
          <a:srcRect l="0" r="0" t="-6162" b="-6162"/>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3561A"/>
                </a:solidFill>
                <a:latin typeface="Nunito Sans" pitchFamily="34" charset="0"/>
                <a:ea typeface="Nunito Sans" pitchFamily="34" charset="-122"/>
                <a:cs typeface="Nunito Sans" pitchFamily="34" charset="-120"/>
              </a:rPr>
              <a:t>OBJETIVO DE LA CLASE</a:t>
            </a:r>
            <a:endParaRPr lang="en-US" sz="1300" dirty="0"/>
          </a:p>
        </p:txBody>
      </p:sp>
      <p:sp>
        <p:nvSpPr>
          <p:cNvPr id="3" name="Text 1"/>
          <p:cNvSpPr/>
          <p:nvPr/>
        </p:nvSpPr>
        <p:spPr>
          <a:xfrm>
            <a:off x="812800" y="1196280"/>
            <a:ext cx="9810750"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F2A3A"/>
                </a:solidFill>
                <a:latin typeface="Nunito Sans" pitchFamily="34" charset="0"/>
                <a:ea typeface="Nunito Sans" pitchFamily="34" charset="-122"/>
                <a:cs typeface="Nunito Sans" pitchFamily="34" charset="-120"/>
              </a:rPr>
              <a:t>Aprender a </a:t>
            </a:r>
            <a:r>
              <a:rPr lang="en-US" sz="2200" b="1" dirty="0">
                <a:solidFill>
                  <a:srgbClr val="1F2A3A"/>
                </a:solidFill>
                <a:latin typeface="Nunito Sans" pitchFamily="34" charset="0"/>
                <a:ea typeface="Nunito Sans" pitchFamily="34" charset="-122"/>
                <a:cs typeface="Nunito Sans" pitchFamily="34" charset="-120"/>
              </a:rPr>
              <a:t>formular</a:t>
            </a:r>
            <a:r>
              <a:rPr lang="en-US" sz="2200" dirty="0">
                <a:solidFill>
                  <a:srgbClr val="1F2A3A"/>
                </a:solidFill>
                <a:latin typeface="Nunito Sans" pitchFamily="34" charset="0"/>
                <a:ea typeface="Nunito Sans" pitchFamily="34" charset="-122"/>
                <a:cs typeface="Nunito Sans" pitchFamily="34" charset="-120"/>
              </a:rPr>
              <a:t> un problema con claridad y a </a:t>
            </a:r>
            <a:r>
              <a:rPr lang="en-US" sz="2200" b="1" dirty="0">
                <a:solidFill>
                  <a:srgbClr val="1F2A3A"/>
                </a:solidFill>
                <a:latin typeface="Nunito Sans" pitchFamily="34" charset="0"/>
                <a:ea typeface="Nunito Sans" pitchFamily="34" charset="-122"/>
                <a:cs typeface="Nunito Sans" pitchFamily="34" charset="-120"/>
              </a:rPr>
              <a:t>desagregarlo</a:t>
            </a:r>
            <a:r>
              <a:rPr lang="en-US" sz="2200" dirty="0">
                <a:solidFill>
                  <a:srgbClr val="1F2A3A"/>
                </a:solidFill>
                <a:latin typeface="Nunito Sans" pitchFamily="34" charset="0"/>
                <a:ea typeface="Nunito Sans" pitchFamily="34" charset="-122"/>
                <a:cs typeface="Nunito Sans" pitchFamily="34" charset="-120"/>
              </a:rPr>
              <a:t> en partes y etapas antes y durante el uso de la IA.</a:t>
            </a:r>
            <a:endParaRPr lang="en-US" sz="2200" dirty="0"/>
          </a:p>
        </p:txBody>
      </p:sp>
      <p:sp>
        <p:nvSpPr>
          <p:cNvPr id="4" name="Shape 2"/>
          <p:cNvSpPr/>
          <p:nvPr/>
        </p:nvSpPr>
        <p:spPr>
          <a:xfrm>
            <a:off x="812800" y="2813050"/>
            <a:ext cx="10566400" cy="2085280"/>
          </a:xfrm>
          <a:prstGeom prst="roundRect">
            <a:avLst>
              <a:gd name="adj" fmla="val 7308"/>
            </a:avLst>
          </a:prstGeom>
          <a:solidFill>
            <a:srgbClr val="1F2A3A"/>
          </a:solidFill>
          <a:ln/>
        </p:spPr>
      </p:sp>
      <p:sp>
        <p:nvSpPr>
          <p:cNvPr id="5" name="Text 3"/>
          <p:cNvSpPr/>
          <p:nvPr/>
        </p:nvSpPr>
        <p:spPr>
          <a:xfrm>
            <a:off x="1219200" y="3219450"/>
            <a:ext cx="10046208"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89A4A"/>
                </a:solidFill>
                <a:latin typeface="Nunito Sans" pitchFamily="34" charset="0"/>
                <a:ea typeface="Nunito Sans" pitchFamily="34" charset="-122"/>
                <a:cs typeface="Nunito Sans" pitchFamily="34" charset="-120"/>
              </a:rPr>
              <a:t>IDEA FUERZA</a:t>
            </a:r>
            <a:endParaRPr lang="en-US" sz="1300" dirty="0"/>
          </a:p>
        </p:txBody>
      </p:sp>
      <p:sp>
        <p:nvSpPr>
          <p:cNvPr id="6" name="Text 4"/>
          <p:cNvSpPr/>
          <p:nvPr/>
        </p:nvSpPr>
        <p:spPr>
          <a:xfrm>
            <a:off x="1219200" y="3602930"/>
            <a:ext cx="10046208" cy="914400"/>
          </a:xfrm>
          <a:prstGeom prst="rect">
            <a:avLst/>
          </a:prstGeom>
          <a:noFill/>
          <a:ln/>
        </p:spPr>
        <p:txBody>
          <a:bodyPr wrap="square" lIns="0" tIns="0" rIns="0" bIns="0" rtlCol="0" anchor="t">
            <a:normAutofit/>
          </a:bodyPr>
          <a:lstStyle/>
          <a:p>
            <a:pPr algn="l" indent="0" marL="0">
              <a:lnSpc>
                <a:spcPts val="3500"/>
              </a:lnSpc>
              <a:buNone/>
            </a:pPr>
            <a:r>
              <a:rPr lang="en-US" sz="2800" b="1" dirty="0">
                <a:solidFill>
                  <a:srgbClr val="F7F4EE"/>
                </a:solidFill>
                <a:latin typeface="Domine" pitchFamily="18" charset="0"/>
                <a:ea typeface="Domine" pitchFamily="18" charset="-122"/>
                <a:cs typeface="Domine" pitchFamily="18" charset="-120"/>
              </a:rPr>
              <a:t>La IA no resuelve problemas mal planteados. Resuelve bien partes de un problema bien pensado.</a:t>
            </a:r>
            <a:endParaRPr lang="en-US" sz="2800" dirty="0"/>
          </a:p>
        </p:txBody>
      </p:sp>
      <p:sp>
        <p:nvSpPr>
          <p:cNvPr id="7" name="Text 5"/>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Nunito Sans" pitchFamily="34" charset="0"/>
                <a:ea typeface="Nunito Sans" pitchFamily="34" charset="-122"/>
                <a:cs typeface="Nunito Sans" pitchFamily="34" charset="-120"/>
              </a:rPr>
              <a:t>Caso eje:</a:t>
            </a:r>
            <a:r>
              <a:rPr lang="en-US" sz="1600" dirty="0">
                <a:solidFill>
                  <a:srgbClr val="4A5568"/>
                </a:solidFill>
                <a:latin typeface="Nunito Sans" pitchFamily="34" charset="0"/>
                <a:ea typeface="Nunito Sans" pitchFamily="34" charset="-122"/>
                <a:cs typeface="Nunito Sans" pitchFamily="34" charset="-120"/>
              </a:rPr>
              <a:t> abrir una cafetería pequeña en San Fernando del Valle de Catamarca.</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¿Para qué sirve la IA generativa?</a:t>
            </a:r>
            <a:endParaRPr lang="en-US" sz="3200" dirty="0"/>
          </a:p>
        </p:txBody>
      </p:sp>
      <p:sp>
        <p:nvSpPr>
          <p:cNvPr id="3" name="Shape 1"/>
          <p:cNvSpPr/>
          <p:nvPr/>
        </p:nvSpPr>
        <p:spPr>
          <a:xfrm>
            <a:off x="819150" y="1591270"/>
            <a:ext cx="5143500" cy="2578100"/>
          </a:xfrm>
          <a:prstGeom prst="roundRect">
            <a:avLst>
              <a:gd name="adj" fmla="val 4680"/>
            </a:avLst>
          </a:prstGeom>
          <a:solidFill>
            <a:srgbClr val="FFFDF9"/>
          </a:solidFill>
          <a:ln w="12700">
            <a:solidFill>
              <a:srgbClr val="2F6F8F"/>
            </a:solidFill>
            <a:prstDash val="solid"/>
          </a:ln>
        </p:spPr>
      </p:sp>
      <p:sp>
        <p:nvSpPr>
          <p:cNvPr id="4" name="Text 2"/>
          <p:cNvSpPr/>
          <p:nvPr/>
        </p:nvSpPr>
        <p:spPr>
          <a:xfrm>
            <a:off x="1130300" y="1902420"/>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6F8F"/>
                </a:solidFill>
                <a:latin typeface="Nunito Sans" pitchFamily="34" charset="0"/>
                <a:ea typeface="Nunito Sans" pitchFamily="34" charset="-122"/>
                <a:cs typeface="Nunito Sans" pitchFamily="34" charset="-120"/>
              </a:rPr>
              <a:t>Sirve bien para…</a:t>
            </a:r>
            <a:endParaRPr lang="en-US" sz="2000" dirty="0"/>
          </a:p>
        </p:txBody>
      </p:sp>
      <p:sp>
        <p:nvSpPr>
          <p:cNvPr id="5" name="Text 3"/>
          <p:cNvSpPr/>
          <p:nvPr/>
        </p:nvSpPr>
        <p:spPr>
          <a:xfrm>
            <a:off x="1194308" y="2334220"/>
            <a:ext cx="4585208" cy="15494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Explicar temas en lenguaje simple</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Redactar y corregir textos</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Resumir y ordenar información</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Generar ideas y alternativas</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Organizar tareas, planes y etapas</a:t>
            </a:r>
            <a:endParaRPr lang="en-US" sz="1600" dirty="0"/>
          </a:p>
        </p:txBody>
      </p:sp>
      <p:sp>
        <p:nvSpPr>
          <p:cNvPr id="6" name="Shape 4"/>
          <p:cNvSpPr/>
          <p:nvPr/>
        </p:nvSpPr>
        <p:spPr>
          <a:xfrm>
            <a:off x="6229350" y="1591270"/>
            <a:ext cx="5143500" cy="2578100"/>
          </a:xfrm>
          <a:prstGeom prst="roundRect">
            <a:avLst>
              <a:gd name="adj" fmla="val 4680"/>
            </a:avLst>
          </a:prstGeom>
          <a:solidFill>
            <a:srgbClr val="FFFDF9"/>
          </a:solidFill>
          <a:ln w="12700">
            <a:solidFill>
              <a:srgbClr val="A3561A"/>
            </a:solidFill>
            <a:prstDash val="solid"/>
          </a:ln>
        </p:spPr>
      </p:sp>
      <p:sp>
        <p:nvSpPr>
          <p:cNvPr id="7" name="Text 5"/>
          <p:cNvSpPr/>
          <p:nvPr/>
        </p:nvSpPr>
        <p:spPr>
          <a:xfrm>
            <a:off x="6540500" y="1902420"/>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3561A"/>
                </a:solidFill>
                <a:latin typeface="Nunito Sans" pitchFamily="34" charset="0"/>
                <a:ea typeface="Nunito Sans" pitchFamily="34" charset="-122"/>
                <a:cs typeface="Nunito Sans" pitchFamily="34" charset="-120"/>
              </a:rPr>
              <a:t>Hay que tener cuidado con…</a:t>
            </a:r>
            <a:endParaRPr lang="en-US" sz="2000" dirty="0"/>
          </a:p>
        </p:txBody>
      </p:sp>
      <p:sp>
        <p:nvSpPr>
          <p:cNvPr id="8" name="Text 6"/>
          <p:cNvSpPr/>
          <p:nvPr/>
        </p:nvSpPr>
        <p:spPr>
          <a:xfrm>
            <a:off x="6604508" y="2334220"/>
            <a:ext cx="4585208" cy="15494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Datos exactos: leyes, números, direcciones, precios</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Tu situación particular, que no conoce</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Información local o muy reciente</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Tomar decisiones por vos</a:t>
            </a:r>
            <a:endParaRPr lang="en-US" sz="1600" dirty="0"/>
          </a:p>
        </p:txBody>
      </p:sp>
      <p:sp>
        <p:nvSpPr>
          <p:cNvPr id="9" name="Text 7"/>
          <p:cNvSpPr/>
          <p:nvPr/>
        </p:nvSpPr>
        <p:spPr>
          <a:xfrm>
            <a:off x="812800" y="44805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Nunito Sans" pitchFamily="34" charset="0"/>
                <a:ea typeface="Nunito Sans" pitchFamily="34" charset="-122"/>
                <a:cs typeface="Nunito Sans" pitchFamily="34" charset="-120"/>
              </a:rPr>
              <a:t>La IA ayuda a pensar y ordenar. </a:t>
            </a:r>
            <a:r>
              <a:rPr lang="en-US" sz="1600" b="1" dirty="0">
                <a:solidFill>
                  <a:srgbClr val="1F2A3A"/>
                </a:solidFill>
                <a:latin typeface="Nunito Sans" pitchFamily="34" charset="0"/>
                <a:ea typeface="Nunito Sans" pitchFamily="34" charset="-122"/>
                <a:cs typeface="Nunito Sans" pitchFamily="34" charset="-120"/>
              </a:rPr>
              <a:t>El problema lo definís vos, y la decisión también.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3561A"/>
        </a:solidFill>
      </p:bgPr>
    </p:bg>
    <p:spTree>
      <p:nvGrpSpPr>
        <p:cNvPr id="1" name=""/>
        <p:cNvGrpSpPr/>
        <p:nvPr/>
      </p:nvGrpSpPr>
      <p:grpSpPr>
        <a:xfrm>
          <a:off x="0" y="0"/>
          <a:ext cx="0" cy="0"/>
          <a:chOff x="0" y="0"/>
          <a:chExt cx="0" cy="0"/>
        </a:xfrm>
      </p:grpSpPr>
      <p:sp>
        <p:nvSpPr>
          <p:cNvPr id="2" name="Text 0"/>
          <p:cNvSpPr/>
          <p:nvPr/>
        </p:nvSpPr>
        <p:spPr>
          <a:xfrm>
            <a:off x="812800" y="25375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BE3C9"/>
                </a:solidFill>
                <a:latin typeface="Nunito Sans" pitchFamily="34" charset="0"/>
                <a:ea typeface="Nunito Sans" pitchFamily="34" charset="-122"/>
                <a:cs typeface="Nunito Sans" pitchFamily="34" charset="-120"/>
              </a:rPr>
              <a:t>PRIMERA DEMO</a:t>
            </a:r>
            <a:endParaRPr lang="en-US" sz="1400" dirty="0"/>
          </a:p>
        </p:txBody>
      </p:sp>
      <p:sp>
        <p:nvSpPr>
          <p:cNvPr id="3" name="Text 1"/>
          <p:cNvSpPr/>
          <p:nvPr>
            <p:ph type="title"/>
          </p:nvPr>
        </p:nvSpPr>
        <p:spPr>
          <a:xfrm>
            <a:off x="812800" y="304036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BF3EA"/>
                </a:solidFill>
                <a:latin typeface="Domine" pitchFamily="18" charset="0"/>
                <a:ea typeface="Domine" pitchFamily="18" charset="-122"/>
                <a:cs typeface="Domine" pitchFamily="18" charset="-120"/>
              </a:rPr>
              <a:t>Usar mal la IA</a:t>
            </a:r>
            <a:endParaRPr lang="en-US" sz="4800" dirty="0"/>
          </a:p>
        </p:txBody>
      </p:sp>
      <p:sp>
        <p:nvSpPr>
          <p:cNvPr id="4" name="Text 2"/>
          <p:cNvSpPr/>
          <p:nvPr/>
        </p:nvSpPr>
        <p:spPr>
          <a:xfrm>
            <a:off x="812800" y="3964880"/>
            <a:ext cx="91567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BF3EA"/>
                </a:solidFill>
                <a:latin typeface="Nunito Sans" pitchFamily="34" charset="0"/>
                <a:ea typeface="Nunito Sans" pitchFamily="34" charset="-122"/>
                <a:cs typeface="Nunito Sans" pitchFamily="34" charset="-120"/>
              </a:rPr>
              <a:t>“Hagamos de cuenta que queremos abrir una cafetería.”</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Lo que le pedimos a Gemini</a:t>
            </a:r>
            <a:endParaRPr lang="en-US" sz="3200" dirty="0"/>
          </a:p>
        </p:txBody>
      </p:sp>
      <p:sp>
        <p:nvSpPr>
          <p:cNvPr id="3" name="Shape 1"/>
          <p:cNvSpPr/>
          <p:nvPr/>
        </p:nvSpPr>
        <p:spPr>
          <a:xfrm>
            <a:off x="815975" y="1588095"/>
            <a:ext cx="5175250" cy="1429841"/>
          </a:xfrm>
          <a:prstGeom prst="roundRect">
            <a:avLst>
              <a:gd name="adj" fmla="val 8660"/>
            </a:avLst>
          </a:prstGeom>
          <a:solidFill>
            <a:srgbClr val="FFFDF9"/>
          </a:solidFill>
          <a:ln w="6350">
            <a:solidFill>
              <a:srgbClr val="E2DACB"/>
            </a:solidFill>
            <a:prstDash val="solid"/>
          </a:ln>
        </p:spPr>
      </p:sp>
      <p:sp>
        <p:nvSpPr>
          <p:cNvPr id="4" name="Text 2"/>
          <p:cNvSpPr/>
          <p:nvPr/>
        </p:nvSpPr>
        <p:spPr>
          <a:xfrm>
            <a:off x="1073150" y="1845270"/>
            <a:ext cx="4800727"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3561A"/>
                </a:solidFill>
                <a:latin typeface="Nunito Sans" pitchFamily="34" charset="0"/>
                <a:ea typeface="Nunito Sans" pitchFamily="34" charset="-122"/>
                <a:cs typeface="Nunito Sans" pitchFamily="34" charset="-120"/>
              </a:rPr>
              <a:t>1 · TODO DE GOLPE, SIN CONTEXTO</a:t>
            </a:r>
            <a:endParaRPr lang="en-US" sz="1300" dirty="0"/>
          </a:p>
        </p:txBody>
      </p:sp>
      <p:sp>
        <p:nvSpPr>
          <p:cNvPr id="5" name="Text 3"/>
          <p:cNvSpPr/>
          <p:nvPr/>
        </p:nvSpPr>
        <p:spPr>
          <a:xfrm>
            <a:off x="1073150" y="2177951"/>
            <a:ext cx="4800727" cy="608211"/>
          </a:xfrm>
          <a:prstGeom prst="rect">
            <a:avLst/>
          </a:prstGeom>
          <a:noFill/>
          <a:ln/>
        </p:spPr>
        <p:txBody>
          <a:bodyPr wrap="square" lIns="0" tIns="0" rIns="0" bIns="0" rtlCol="0" anchor="t">
            <a:normAutofit/>
          </a:bodyPr>
          <a:lstStyle/>
          <a:p>
            <a:pPr algn="l" indent="0" marL="0">
              <a:lnSpc>
                <a:spcPts val="2295"/>
              </a:lnSpc>
              <a:buNone/>
            </a:pPr>
            <a:r>
              <a:rPr lang="en-US" sz="1700" i="1" dirty="0">
                <a:solidFill>
                  <a:srgbClr val="1F2A3A"/>
                </a:solidFill>
                <a:latin typeface="Nunito Sans" pitchFamily="34" charset="0"/>
                <a:ea typeface="Nunito Sans" pitchFamily="34" charset="-122"/>
                <a:cs typeface="Nunito Sans" pitchFamily="34" charset="-120"/>
              </a:rPr>
              <a:t>“Quiero abrir una cafetería. ¿Qué tengo que hacer?”</a:t>
            </a:r>
            <a:endParaRPr lang="en-US" sz="1700" dirty="0"/>
          </a:p>
        </p:txBody>
      </p:sp>
      <p:sp>
        <p:nvSpPr>
          <p:cNvPr id="6" name="Shape 4"/>
          <p:cNvSpPr/>
          <p:nvPr/>
        </p:nvSpPr>
        <p:spPr>
          <a:xfrm>
            <a:off x="6200775" y="1588095"/>
            <a:ext cx="5175250" cy="1429841"/>
          </a:xfrm>
          <a:prstGeom prst="roundRect">
            <a:avLst>
              <a:gd name="adj" fmla="val 8660"/>
            </a:avLst>
          </a:prstGeom>
          <a:solidFill>
            <a:srgbClr val="FFFDF9"/>
          </a:solidFill>
          <a:ln w="6350">
            <a:solidFill>
              <a:srgbClr val="E2DACB"/>
            </a:solidFill>
            <a:prstDash val="solid"/>
          </a:ln>
        </p:spPr>
      </p:sp>
      <p:sp>
        <p:nvSpPr>
          <p:cNvPr id="7" name="Text 5"/>
          <p:cNvSpPr/>
          <p:nvPr/>
        </p:nvSpPr>
        <p:spPr>
          <a:xfrm>
            <a:off x="6457950" y="1845270"/>
            <a:ext cx="4800727"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3561A"/>
                </a:solidFill>
                <a:latin typeface="Nunito Sans" pitchFamily="34" charset="0"/>
                <a:ea typeface="Nunito Sans" pitchFamily="34" charset="-122"/>
                <a:cs typeface="Nunito Sans" pitchFamily="34" charset="-120"/>
              </a:rPr>
              <a:t>2 · QUE HAGA TODO</a:t>
            </a:r>
            <a:endParaRPr lang="en-US" sz="1300" dirty="0"/>
          </a:p>
        </p:txBody>
      </p:sp>
      <p:sp>
        <p:nvSpPr>
          <p:cNvPr id="8" name="Text 6"/>
          <p:cNvSpPr/>
          <p:nvPr/>
        </p:nvSpPr>
        <p:spPr>
          <a:xfrm>
            <a:off x="6457950" y="2177951"/>
            <a:ext cx="4800727" cy="608211"/>
          </a:xfrm>
          <a:prstGeom prst="rect">
            <a:avLst/>
          </a:prstGeom>
          <a:noFill/>
          <a:ln/>
        </p:spPr>
        <p:txBody>
          <a:bodyPr wrap="square" lIns="0" tIns="0" rIns="0" bIns="0" rtlCol="0" anchor="t">
            <a:normAutofit/>
          </a:bodyPr>
          <a:lstStyle/>
          <a:p>
            <a:pPr algn="l" indent="0" marL="0">
              <a:lnSpc>
                <a:spcPts val="2295"/>
              </a:lnSpc>
              <a:buNone/>
            </a:pPr>
            <a:r>
              <a:rPr lang="en-US" sz="1700" i="1" dirty="0">
                <a:solidFill>
                  <a:srgbClr val="1F2A3A"/>
                </a:solidFill>
                <a:latin typeface="Nunito Sans" pitchFamily="34" charset="0"/>
                <a:ea typeface="Nunito Sans" pitchFamily="34" charset="-122"/>
                <a:cs typeface="Nunito Sans" pitchFamily="34" charset="-120"/>
              </a:rPr>
              <a:t>“Haceme un plan de negocios completo para la cafetería.”</a:t>
            </a:r>
            <a:endParaRPr lang="en-US" sz="1700" dirty="0"/>
          </a:p>
        </p:txBody>
      </p:sp>
      <p:sp>
        <p:nvSpPr>
          <p:cNvPr id="9" name="Shape 7"/>
          <p:cNvSpPr/>
          <p:nvPr/>
        </p:nvSpPr>
        <p:spPr>
          <a:xfrm>
            <a:off x="815975" y="3227487"/>
            <a:ext cx="5175250" cy="1138436"/>
          </a:xfrm>
          <a:prstGeom prst="roundRect">
            <a:avLst>
              <a:gd name="adj" fmla="val 10877"/>
            </a:avLst>
          </a:prstGeom>
          <a:solidFill>
            <a:srgbClr val="FFFDF9"/>
          </a:solidFill>
          <a:ln w="6350">
            <a:solidFill>
              <a:srgbClr val="E2DACB"/>
            </a:solidFill>
            <a:prstDash val="solid"/>
          </a:ln>
        </p:spPr>
      </p:sp>
      <p:sp>
        <p:nvSpPr>
          <p:cNvPr id="10" name="Text 8"/>
          <p:cNvSpPr/>
          <p:nvPr/>
        </p:nvSpPr>
        <p:spPr>
          <a:xfrm>
            <a:off x="1073150" y="3484662"/>
            <a:ext cx="4800727"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3561A"/>
                </a:solidFill>
                <a:latin typeface="Nunito Sans" pitchFamily="34" charset="0"/>
                <a:ea typeface="Nunito Sans" pitchFamily="34" charset="-122"/>
                <a:cs typeface="Nunito Sans" pitchFamily="34" charset="-120"/>
              </a:rPr>
              <a:t>3 · QUE DECIDA POR MÍ</a:t>
            </a:r>
            <a:endParaRPr lang="en-US" sz="1300" dirty="0"/>
          </a:p>
        </p:txBody>
      </p:sp>
      <p:sp>
        <p:nvSpPr>
          <p:cNvPr id="11" name="Text 9"/>
          <p:cNvSpPr/>
          <p:nvPr/>
        </p:nvSpPr>
        <p:spPr>
          <a:xfrm>
            <a:off x="1073150" y="3817342"/>
            <a:ext cx="4800727" cy="316805"/>
          </a:xfrm>
          <a:prstGeom prst="rect">
            <a:avLst/>
          </a:prstGeom>
          <a:noFill/>
          <a:ln/>
        </p:spPr>
        <p:txBody>
          <a:bodyPr wrap="square" lIns="0" tIns="0" rIns="0" bIns="0" rtlCol="0" anchor="t">
            <a:normAutofit/>
          </a:bodyPr>
          <a:lstStyle/>
          <a:p>
            <a:pPr algn="l" indent="0" marL="0">
              <a:lnSpc>
                <a:spcPts val="2295"/>
              </a:lnSpc>
              <a:buNone/>
            </a:pPr>
            <a:r>
              <a:rPr lang="en-US" sz="1700" i="1" dirty="0">
                <a:solidFill>
                  <a:srgbClr val="1F2A3A"/>
                </a:solidFill>
                <a:latin typeface="Nunito Sans" pitchFamily="34" charset="0"/>
                <a:ea typeface="Nunito Sans" pitchFamily="34" charset="-122"/>
                <a:cs typeface="Nunito Sans" pitchFamily="34" charset="-120"/>
              </a:rPr>
              <a:t>“¿Me conviene abrirla? Decidí por mí.”</a:t>
            </a:r>
            <a:endParaRPr lang="en-US" sz="1700" dirty="0"/>
          </a:p>
        </p:txBody>
      </p:sp>
      <p:sp>
        <p:nvSpPr>
          <p:cNvPr id="12" name="Shape 10"/>
          <p:cNvSpPr/>
          <p:nvPr/>
        </p:nvSpPr>
        <p:spPr>
          <a:xfrm>
            <a:off x="6200775" y="3227487"/>
            <a:ext cx="5175250" cy="1138436"/>
          </a:xfrm>
          <a:prstGeom prst="roundRect">
            <a:avLst>
              <a:gd name="adj" fmla="val 10877"/>
            </a:avLst>
          </a:prstGeom>
          <a:solidFill>
            <a:srgbClr val="FFFDF9"/>
          </a:solidFill>
          <a:ln w="6350">
            <a:solidFill>
              <a:srgbClr val="E2DACB"/>
            </a:solidFill>
            <a:prstDash val="solid"/>
          </a:ln>
        </p:spPr>
      </p:sp>
      <p:sp>
        <p:nvSpPr>
          <p:cNvPr id="13" name="Text 11"/>
          <p:cNvSpPr/>
          <p:nvPr/>
        </p:nvSpPr>
        <p:spPr>
          <a:xfrm>
            <a:off x="6457950" y="3484662"/>
            <a:ext cx="4800727"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3561A"/>
                </a:solidFill>
                <a:latin typeface="Nunito Sans" pitchFamily="34" charset="0"/>
                <a:ea typeface="Nunito Sans" pitchFamily="34" charset="-122"/>
                <a:cs typeface="Nunito Sans" pitchFamily="34" charset="-120"/>
              </a:rPr>
              <a:t>4 · CREERLE SIN VERIFICAR</a:t>
            </a:r>
            <a:endParaRPr lang="en-US" sz="1300" dirty="0"/>
          </a:p>
        </p:txBody>
      </p:sp>
      <p:sp>
        <p:nvSpPr>
          <p:cNvPr id="14" name="Text 12"/>
          <p:cNvSpPr/>
          <p:nvPr/>
        </p:nvSpPr>
        <p:spPr>
          <a:xfrm>
            <a:off x="6457950" y="3817342"/>
            <a:ext cx="4800727" cy="316805"/>
          </a:xfrm>
          <a:prstGeom prst="rect">
            <a:avLst/>
          </a:prstGeom>
          <a:noFill/>
          <a:ln/>
        </p:spPr>
        <p:txBody>
          <a:bodyPr wrap="square" lIns="0" tIns="0" rIns="0" bIns="0" rtlCol="0" anchor="t">
            <a:normAutofit/>
          </a:bodyPr>
          <a:lstStyle/>
          <a:p>
            <a:pPr algn="l" indent="0" marL="0">
              <a:lnSpc>
                <a:spcPts val="2295"/>
              </a:lnSpc>
              <a:buNone/>
            </a:pPr>
            <a:r>
              <a:rPr lang="en-US" sz="1700" i="1" dirty="0">
                <a:solidFill>
                  <a:srgbClr val="1F2A3A"/>
                </a:solidFill>
                <a:latin typeface="Nunito Sans" pitchFamily="34" charset="0"/>
                <a:ea typeface="Nunito Sans" pitchFamily="34" charset="-122"/>
                <a:cs typeface="Nunito Sans" pitchFamily="34" charset="-120"/>
              </a:rPr>
              <a:t>“¿Qué leyes tengo que cumplir en Catamarca?”</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¿Qué salió mal?</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10553700" cy="2564606"/>
        </p:xfrm>
        <a:graphic>
          <a:graphicData uri="http://schemas.openxmlformats.org/drawingml/2006/table">
            <a:tbl>
              <a:tblPr/>
              <a:tblGrid>
                <a:gridCol w="3377184"/>
                <a:gridCol w="4432554"/>
                <a:gridCol w="2743962"/>
              </a:tblGrid>
              <a:tr h="385961">
                <a:tc>
                  <a:txBody>
                    <a:bodyPr/>
                    <a:lstStyle/>
                    <a:p>
                      <a:pPr indent="0" marL="0">
                        <a:lnSpc>
                          <a:spcPts val="1960"/>
                        </a:lnSpc>
                        <a:buNone/>
                      </a:pPr>
                      <a:r>
                        <a:rPr lang="en-US" sz="1400" b="1" dirty="0">
                          <a:solidFill>
                            <a:srgbClr val="F7F4EE"/>
                          </a:solidFill>
                          <a:latin typeface="Nunito Sans" pitchFamily="34" charset="0"/>
                          <a:ea typeface="Nunito Sans" pitchFamily="34" charset="-122"/>
                          <a:cs typeface="Nunito Sans" pitchFamily="34" charset="-120"/>
                        </a:rPr>
                        <a:t>Lo que hice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1D2531"/>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1D2531"/>
                      </a:solidFill>
                      <a:prstDash val="solid"/>
                      <a:round/>
                      <a:headEnd type="none" w="med" len="med"/>
                      <a:tailEnd type="none" w="med" len="med"/>
                    </a:lnB>
                    <a:solidFill>
                      <a:srgbClr val="1F2A3A"/>
                    </a:solidFill>
                  </a:tcPr>
                </a:tc>
                <a:tc>
                  <a:txBody>
                    <a:bodyPr/>
                    <a:lstStyle/>
                    <a:p>
                      <a:pPr indent="0" marL="0">
                        <a:lnSpc>
                          <a:spcPts val="1960"/>
                        </a:lnSpc>
                        <a:buNone/>
                      </a:pPr>
                      <a:r>
                        <a:rPr lang="en-US" sz="1400" b="1" dirty="0">
                          <a:solidFill>
                            <a:srgbClr val="F7F4EE"/>
                          </a:solidFill>
                          <a:latin typeface="Nunito Sans" pitchFamily="34" charset="0"/>
                          <a:ea typeface="Nunito Sans" pitchFamily="34" charset="-122"/>
                          <a:cs typeface="Nunito Sans" pitchFamily="34" charset="-120"/>
                        </a:rPr>
                        <a:t>El problema</a:t>
                      </a:r>
                      <a:endParaRPr lang="en-US" sz="1400" dirty="0">
                        <a:latin typeface="Nunito Sans" charset="0"/>
                        <a:ea typeface="Nunito Sans" charset="0"/>
                        <a:cs typeface="Nunito Sans" charset="0"/>
                      </a:endParaRPr>
                    </a:p>
                  </a:txBody>
                  <a:tcPr marL="62230" marR="62230" marT="62230" marB="62230" anchor="t">
                    <a:lnL w="12700" cap="flat" cmpd="sng" algn="ctr">
                      <a:solidFill>
                        <a:srgbClr val="1D2531"/>
                      </a:solidFill>
                      <a:prstDash val="solid"/>
                      <a:round/>
                      <a:headEnd type="none" w="med" len="med"/>
                      <a:tailEnd type="none" w="med" len="med"/>
                    </a:lnL>
                    <a:lnR w="12700" cap="flat" cmpd="sng" algn="ctr">
                      <a:solidFill>
                        <a:srgbClr val="1D2531"/>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1D2531"/>
                      </a:solidFill>
                      <a:prstDash val="solid"/>
                      <a:round/>
                      <a:headEnd type="none" w="med" len="med"/>
                      <a:tailEnd type="none" w="med" len="med"/>
                    </a:lnB>
                    <a:solidFill>
                      <a:srgbClr val="1F2A3A"/>
                    </a:solidFill>
                  </a:tcPr>
                </a:tc>
                <a:tc>
                  <a:txBody>
                    <a:bodyPr/>
                    <a:lstStyle/>
                    <a:p>
                      <a:pPr indent="0" marL="0">
                        <a:lnSpc>
                          <a:spcPts val="1960"/>
                        </a:lnSpc>
                        <a:buNone/>
                      </a:pPr>
                      <a:r>
                        <a:rPr lang="en-US" sz="1400" b="1" dirty="0">
                          <a:solidFill>
                            <a:srgbClr val="F7F4EE"/>
                          </a:solidFill>
                          <a:latin typeface="Nunito Sans" pitchFamily="34" charset="0"/>
                          <a:ea typeface="Nunito Sans" pitchFamily="34" charset="-122"/>
                          <a:cs typeface="Nunito Sans" pitchFamily="34" charset="-120"/>
                        </a:rPr>
                        <a:t>El criterio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1D2531"/>
                      </a:solidFill>
                      <a:prstDash val="solid"/>
                      <a:round/>
                      <a:headEnd type="none" w="med" len="med"/>
                      <a:tailEnd type="none" w="med" len="med"/>
                    </a:lnL>
                    <a:lnR w="12700" cap="flat" cmpd="sng" algn="ctr">
                      <a:solidFill>
                        <a:srgbClr val="1D2531"/>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1D2531"/>
                      </a:solidFill>
                      <a:prstDash val="solid"/>
                      <a:round/>
                      <a:headEnd type="none" w="med" len="med"/>
                      <a:tailEnd type="none" w="med" len="med"/>
                    </a:lnB>
                    <a:solidFill>
                      <a:srgbClr val="1F2A3A"/>
                    </a:solidFill>
                  </a:tcPr>
                </a:tc>
              </a:tr>
              <a:tr h="385961">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“Quiero abrir una cafetería”</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1D2531"/>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No dije dónde, con qué recursos ni para cuándo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1D2531"/>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1960"/>
                        </a:lnSpc>
                        <a:buNone/>
                      </a:pPr>
                      <a:r>
                        <a:rPr lang="en-US" sz="1400" dirty="0">
                          <a:solidFill>
                            <a:srgbClr val="2F6F8F"/>
                          </a:solidFill>
                          <a:latin typeface="Nunito Sans" pitchFamily="34" charset="0"/>
                          <a:ea typeface="Nunito Sans" pitchFamily="34" charset="-122"/>
                          <a:cs typeface="Nunito Sans" pitchFamily="34" charset="-120"/>
                        </a:rPr>
                        <a:t>Formular el problema</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1D2531"/>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r h="634802">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No le di contexto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Gemini completó todo con suposiciones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c>
                  <a:txBody>
                    <a:bodyPr/>
                    <a:lstStyle/>
                    <a:p>
                      <a:pPr indent="0" marL="0">
                        <a:lnSpc>
                          <a:spcPts val="1960"/>
                        </a:lnSpc>
                        <a:buNone/>
                      </a:pPr>
                      <a:r>
                        <a:rPr lang="en-US" sz="1400" dirty="0">
                          <a:solidFill>
                            <a:srgbClr val="2F6F8F"/>
                          </a:solidFill>
                          <a:latin typeface="Nunito Sans" pitchFamily="34" charset="0"/>
                          <a:ea typeface="Nunito Sans" pitchFamily="34" charset="-122"/>
                          <a:cs typeface="Nunito Sans" pitchFamily="34" charset="-120"/>
                        </a:rPr>
                        <a:t>Dar contexto o dejar que pregunte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r>
              <a:tr h="385961">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Pedí todo de golpe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Recibí algo enorme y genérico, imposible de usar</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1960"/>
                        </a:lnSpc>
                        <a:buNone/>
                      </a:pPr>
                      <a:r>
                        <a:rPr lang="en-US" sz="1400" dirty="0">
                          <a:solidFill>
                            <a:srgbClr val="2F6F8F"/>
                          </a:solidFill>
                          <a:latin typeface="Nunito Sans" pitchFamily="34" charset="0"/>
                          <a:ea typeface="Nunito Sans" pitchFamily="34" charset="-122"/>
                          <a:cs typeface="Nunito Sans" pitchFamily="34" charset="-120"/>
                        </a:rPr>
                        <a:t>Desagregar en partes y etapas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“¿Me conviene abrirla? Decidí por mí.”</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Le pedí que decidiera sin tener la información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c>
                  <a:txBody>
                    <a:bodyPr/>
                    <a:lstStyle/>
                    <a:p>
                      <a:pPr indent="0" marL="0">
                        <a:lnSpc>
                          <a:spcPts val="1960"/>
                        </a:lnSpc>
                        <a:buNone/>
                      </a:pPr>
                      <a:r>
                        <a:rPr lang="en-US" sz="1400" dirty="0">
                          <a:solidFill>
                            <a:srgbClr val="2F6F8F"/>
                          </a:solidFill>
                          <a:latin typeface="Nunito Sans" pitchFamily="34" charset="0"/>
                          <a:ea typeface="Nunito Sans" pitchFamily="34" charset="-122"/>
                          <a:cs typeface="Nunito Sans" pitchFamily="34" charset="-120"/>
                        </a:rPr>
                        <a:t>Las decisiones son mías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r>
              <a:tr h="385961">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Acepté las leyes sin mirar</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1960"/>
                        </a:lnSpc>
                        <a:buNone/>
                      </a:pPr>
                      <a:r>
                        <a:rPr lang="en-US" sz="1400" dirty="0">
                          <a:solidFill>
                            <a:srgbClr val="1F2A3A"/>
                          </a:solidFill>
                          <a:latin typeface="Nunito Sans" pitchFamily="34" charset="0"/>
                          <a:ea typeface="Nunito Sans" pitchFamily="34" charset="-122"/>
                          <a:cs typeface="Nunito Sans" pitchFamily="34" charset="-120"/>
                        </a:rPr>
                        <a:t>Podía haber errores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1960"/>
                        </a:lnSpc>
                        <a:buNone/>
                      </a:pPr>
                      <a:r>
                        <a:rPr lang="en-US" sz="1400" dirty="0">
                          <a:solidFill>
                            <a:srgbClr val="2F6F8F"/>
                          </a:solidFill>
                          <a:latin typeface="Nunito Sans" pitchFamily="34" charset="0"/>
                          <a:ea typeface="Nunito Sans" pitchFamily="34" charset="-122"/>
                          <a:cs typeface="Nunito Sans" pitchFamily="34" charset="-120"/>
                        </a:rPr>
                        <a:t>Verificar lo importante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3561A"/>
                </a:solidFill>
                <a:latin typeface="Nunito Sans" pitchFamily="34" charset="0"/>
                <a:ea typeface="Nunito Sans" pitchFamily="34" charset="-122"/>
                <a:cs typeface="Nunito Sans" pitchFamily="34" charset="-120"/>
              </a:rPr>
              <a:t>CRITERIO 1</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Formular bien el problema</a:t>
            </a:r>
            <a:endParaRPr lang="en-US" sz="3200" dirty="0"/>
          </a:p>
        </p:txBody>
      </p:sp>
      <p:sp>
        <p:nvSpPr>
          <p:cNvPr id="4" name="Text 2"/>
          <p:cNvSpPr/>
          <p:nvPr/>
        </p:nvSpPr>
        <p:spPr>
          <a:xfrm>
            <a:off x="812800" y="1917601"/>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Nunito Sans" pitchFamily="34" charset="0"/>
                <a:ea typeface="Nunito Sans" pitchFamily="34" charset="-122"/>
                <a:cs typeface="Nunito Sans" pitchFamily="34" charset="-120"/>
              </a:rPr>
              <a:t>“Quiero abrir un negocio” es un deseo, no un problema formulado. Un problema bien formulado responde cuatro preguntas:</a:t>
            </a:r>
            <a:endParaRPr lang="en-US" sz="1600" dirty="0"/>
          </a:p>
        </p:txBody>
      </p:sp>
      <p:sp>
        <p:nvSpPr>
          <p:cNvPr id="5" name="Shape 3"/>
          <p:cNvSpPr/>
          <p:nvPr/>
        </p:nvSpPr>
        <p:spPr>
          <a:xfrm>
            <a:off x="812800" y="2791321"/>
            <a:ext cx="2508250" cy="1975941"/>
          </a:xfrm>
          <a:prstGeom prst="roundRect">
            <a:avLst>
              <a:gd name="adj" fmla="val 5142"/>
            </a:avLst>
          </a:prstGeom>
          <a:solidFill>
            <a:srgbClr val="FFFDF9"/>
          </a:solidFill>
          <a:ln/>
        </p:spPr>
      </p:sp>
      <p:sp>
        <p:nvSpPr>
          <p:cNvPr id="6" name="Shape 4"/>
          <p:cNvSpPr/>
          <p:nvPr/>
        </p:nvSpPr>
        <p:spPr>
          <a:xfrm>
            <a:off x="812800" y="2791321"/>
            <a:ext cx="2508250" cy="1975941"/>
          </a:xfrm>
          <a:custGeom>
            <a:avLst/>
            <a:gdLst/>
            <a:ahLst/>
            <a:cxnLst/>
            <a:rect l="l" t="t" r="r" b="b"/>
            <a:pathLst>
              <a:path w="2508250" h="1975941">
                <a:moveTo>
                  <a:pt x="0" y="101600"/>
                </a:moveTo>
                <a:lnTo>
                  <a:pt x="0" y="101600"/>
                </a:lnTo>
                <a:arcTo hR="101600" wR="101600" stAng="10800000" swAng="5400000"/>
                <a:lnTo>
                  <a:pt x="2406650" y="0"/>
                </a:lnTo>
                <a:arcTo hR="101600" wR="101600" stAng="16200000" swAng="5400000"/>
                <a:lnTo>
                  <a:pt x="2508250" y="101600"/>
                </a:lnTo>
                <a:arcTo hR="50800" wR="101600" stAng="0" swAng="-5400000"/>
                <a:lnTo>
                  <a:pt x="101600" y="50800"/>
                </a:lnTo>
                <a:arcTo hR="50800" wR="101600" stAng="16200000" swAng="-5400000"/>
                <a:close/>
              </a:path>
            </a:pathLst>
          </a:custGeom>
          <a:solidFill>
            <a:srgbClr val="2F6F8F"/>
          </a:solidFill>
          <a:ln/>
        </p:spPr>
      </p:sp>
      <p:sp>
        <p:nvSpPr>
          <p:cNvPr id="7" name="Text 5"/>
          <p:cNvSpPr/>
          <p:nvPr/>
        </p:nvSpPr>
        <p:spPr>
          <a:xfrm>
            <a:off x="1041400" y="3070721"/>
            <a:ext cx="211258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8F"/>
                </a:solidFill>
                <a:latin typeface="Domine" pitchFamily="18" charset="0"/>
                <a:ea typeface="Domine" pitchFamily="18" charset="-122"/>
                <a:cs typeface="Domine" pitchFamily="18" charset="-120"/>
              </a:rPr>
              <a:t>1</a:t>
            </a:r>
            <a:endParaRPr lang="en-US" sz="2800" dirty="0"/>
          </a:p>
        </p:txBody>
      </p:sp>
      <p:sp>
        <p:nvSpPr>
          <p:cNvPr id="8" name="Text 6"/>
          <p:cNvSpPr/>
          <p:nvPr/>
        </p:nvSpPr>
        <p:spPr>
          <a:xfrm>
            <a:off x="1041400" y="3670102"/>
            <a:ext cx="211258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3A"/>
                </a:solidFill>
                <a:latin typeface="Nunito Sans" pitchFamily="34" charset="0"/>
                <a:ea typeface="Nunito Sans" pitchFamily="34" charset="-122"/>
                <a:cs typeface="Nunito Sans" pitchFamily="34" charset="-120"/>
              </a:rPr>
              <a:t>¿Dónde estoy?</a:t>
            </a:r>
            <a:endParaRPr lang="en-US" sz="1700" dirty="0"/>
          </a:p>
        </p:txBody>
      </p:sp>
      <p:sp>
        <p:nvSpPr>
          <p:cNvPr id="9" name="Text 7"/>
          <p:cNvSpPr/>
          <p:nvPr/>
        </p:nvSpPr>
        <p:spPr>
          <a:xfrm>
            <a:off x="1041400" y="4030762"/>
            <a:ext cx="211258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La situación actual</a:t>
            </a:r>
            <a:endParaRPr lang="en-US" sz="1400" dirty="0"/>
          </a:p>
        </p:txBody>
      </p:sp>
      <p:sp>
        <p:nvSpPr>
          <p:cNvPr id="10" name="Shape 8"/>
          <p:cNvSpPr/>
          <p:nvPr/>
        </p:nvSpPr>
        <p:spPr>
          <a:xfrm>
            <a:off x="3498850" y="2791321"/>
            <a:ext cx="2508250" cy="1975941"/>
          </a:xfrm>
          <a:prstGeom prst="roundRect">
            <a:avLst>
              <a:gd name="adj" fmla="val 5142"/>
            </a:avLst>
          </a:prstGeom>
          <a:solidFill>
            <a:srgbClr val="FFFDF9"/>
          </a:solidFill>
          <a:ln/>
        </p:spPr>
      </p:sp>
      <p:sp>
        <p:nvSpPr>
          <p:cNvPr id="11" name="Shape 9"/>
          <p:cNvSpPr/>
          <p:nvPr/>
        </p:nvSpPr>
        <p:spPr>
          <a:xfrm>
            <a:off x="3498850" y="2791321"/>
            <a:ext cx="2508250" cy="1975941"/>
          </a:xfrm>
          <a:custGeom>
            <a:avLst/>
            <a:gdLst/>
            <a:ahLst/>
            <a:cxnLst/>
            <a:rect l="l" t="t" r="r" b="b"/>
            <a:pathLst>
              <a:path w="2508250" h="1975941">
                <a:moveTo>
                  <a:pt x="0" y="101600"/>
                </a:moveTo>
                <a:lnTo>
                  <a:pt x="0" y="101600"/>
                </a:lnTo>
                <a:arcTo hR="101600" wR="101600" stAng="10800000" swAng="5400000"/>
                <a:lnTo>
                  <a:pt x="2406650" y="0"/>
                </a:lnTo>
                <a:arcTo hR="101600" wR="101600" stAng="16200000" swAng="5400000"/>
                <a:lnTo>
                  <a:pt x="2508250" y="101600"/>
                </a:lnTo>
                <a:arcTo hR="50800" wR="101600" stAng="0" swAng="-5400000"/>
                <a:lnTo>
                  <a:pt x="101600" y="50800"/>
                </a:lnTo>
                <a:arcTo hR="50800" wR="101600" stAng="16200000" swAng="-5400000"/>
                <a:close/>
              </a:path>
            </a:pathLst>
          </a:custGeom>
          <a:solidFill>
            <a:srgbClr val="2F6F8F"/>
          </a:solidFill>
          <a:ln/>
        </p:spPr>
      </p:sp>
      <p:sp>
        <p:nvSpPr>
          <p:cNvPr id="12" name="Text 10"/>
          <p:cNvSpPr/>
          <p:nvPr/>
        </p:nvSpPr>
        <p:spPr>
          <a:xfrm>
            <a:off x="3727450" y="3070721"/>
            <a:ext cx="211258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8F"/>
                </a:solidFill>
                <a:latin typeface="Domine" pitchFamily="18" charset="0"/>
                <a:ea typeface="Domine" pitchFamily="18" charset="-122"/>
                <a:cs typeface="Domine" pitchFamily="18" charset="-120"/>
              </a:rPr>
              <a:t>2</a:t>
            </a:r>
            <a:endParaRPr lang="en-US" sz="2800" dirty="0"/>
          </a:p>
        </p:txBody>
      </p:sp>
      <p:sp>
        <p:nvSpPr>
          <p:cNvPr id="13" name="Text 11"/>
          <p:cNvSpPr/>
          <p:nvPr/>
        </p:nvSpPr>
        <p:spPr>
          <a:xfrm>
            <a:off x="3727450" y="3670102"/>
            <a:ext cx="2112582"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3A"/>
                </a:solidFill>
                <a:latin typeface="Nunito Sans" pitchFamily="34" charset="0"/>
                <a:ea typeface="Nunito Sans" pitchFamily="34" charset="-122"/>
                <a:cs typeface="Nunito Sans" pitchFamily="34" charset="-120"/>
              </a:rPr>
              <a:t>¿Adónde quiero llegar?</a:t>
            </a:r>
            <a:endParaRPr lang="en-US" sz="1700" dirty="0"/>
          </a:p>
        </p:txBody>
      </p:sp>
      <p:sp>
        <p:nvSpPr>
          <p:cNvPr id="14" name="Text 12"/>
          <p:cNvSpPr/>
          <p:nvPr/>
        </p:nvSpPr>
        <p:spPr>
          <a:xfrm>
            <a:off x="3727450" y="4289822"/>
            <a:ext cx="211258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El objetivo concreto</a:t>
            </a:r>
            <a:endParaRPr lang="en-US" sz="1400" dirty="0"/>
          </a:p>
        </p:txBody>
      </p:sp>
      <p:sp>
        <p:nvSpPr>
          <p:cNvPr id="15" name="Shape 13"/>
          <p:cNvSpPr/>
          <p:nvPr/>
        </p:nvSpPr>
        <p:spPr>
          <a:xfrm>
            <a:off x="6184900" y="2791321"/>
            <a:ext cx="2508250" cy="1975941"/>
          </a:xfrm>
          <a:prstGeom prst="roundRect">
            <a:avLst>
              <a:gd name="adj" fmla="val 5142"/>
            </a:avLst>
          </a:prstGeom>
          <a:solidFill>
            <a:srgbClr val="FFFDF9"/>
          </a:solidFill>
          <a:ln/>
        </p:spPr>
      </p:sp>
      <p:sp>
        <p:nvSpPr>
          <p:cNvPr id="16" name="Shape 14"/>
          <p:cNvSpPr/>
          <p:nvPr/>
        </p:nvSpPr>
        <p:spPr>
          <a:xfrm>
            <a:off x="6184900" y="2791321"/>
            <a:ext cx="2508250" cy="1975941"/>
          </a:xfrm>
          <a:custGeom>
            <a:avLst/>
            <a:gdLst/>
            <a:ahLst/>
            <a:cxnLst/>
            <a:rect l="l" t="t" r="r" b="b"/>
            <a:pathLst>
              <a:path w="2508250" h="1975941">
                <a:moveTo>
                  <a:pt x="0" y="101600"/>
                </a:moveTo>
                <a:lnTo>
                  <a:pt x="0" y="101600"/>
                </a:lnTo>
                <a:arcTo hR="101600" wR="101600" stAng="10800000" swAng="5400000"/>
                <a:lnTo>
                  <a:pt x="2406650" y="0"/>
                </a:lnTo>
                <a:arcTo hR="101600" wR="101600" stAng="16200000" swAng="5400000"/>
                <a:lnTo>
                  <a:pt x="2508250" y="101600"/>
                </a:lnTo>
                <a:arcTo hR="50800" wR="101600" stAng="0" swAng="-5400000"/>
                <a:lnTo>
                  <a:pt x="101600" y="50800"/>
                </a:lnTo>
                <a:arcTo hR="50800" wR="101600" stAng="16200000" swAng="-5400000"/>
                <a:close/>
              </a:path>
            </a:pathLst>
          </a:custGeom>
          <a:solidFill>
            <a:srgbClr val="2F6F8F"/>
          </a:solidFill>
          <a:ln/>
        </p:spPr>
      </p:sp>
      <p:sp>
        <p:nvSpPr>
          <p:cNvPr id="17" name="Text 15"/>
          <p:cNvSpPr/>
          <p:nvPr/>
        </p:nvSpPr>
        <p:spPr>
          <a:xfrm>
            <a:off x="6413500" y="3070721"/>
            <a:ext cx="211258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8F"/>
                </a:solidFill>
                <a:latin typeface="Domine" pitchFamily="18" charset="0"/>
                <a:ea typeface="Domine" pitchFamily="18" charset="-122"/>
                <a:cs typeface="Domine" pitchFamily="18" charset="-120"/>
              </a:rPr>
              <a:t>3</a:t>
            </a:r>
            <a:endParaRPr lang="en-US" sz="2800" dirty="0"/>
          </a:p>
        </p:txBody>
      </p:sp>
      <p:sp>
        <p:nvSpPr>
          <p:cNvPr id="18" name="Text 16"/>
          <p:cNvSpPr/>
          <p:nvPr/>
        </p:nvSpPr>
        <p:spPr>
          <a:xfrm>
            <a:off x="6413500" y="3670102"/>
            <a:ext cx="2112582"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3A"/>
                </a:solidFill>
                <a:latin typeface="Nunito Sans" pitchFamily="34" charset="0"/>
                <a:ea typeface="Nunito Sans" pitchFamily="34" charset="-122"/>
                <a:cs typeface="Nunito Sans" pitchFamily="34" charset="-120"/>
              </a:rPr>
              <a:t>¿Con qué cuento y qué me limita?</a:t>
            </a:r>
            <a:endParaRPr lang="en-US" sz="1700" dirty="0"/>
          </a:p>
        </p:txBody>
      </p:sp>
      <p:sp>
        <p:nvSpPr>
          <p:cNvPr id="19" name="Text 17"/>
          <p:cNvSpPr/>
          <p:nvPr/>
        </p:nvSpPr>
        <p:spPr>
          <a:xfrm>
            <a:off x="6413500" y="4289822"/>
            <a:ext cx="211258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Recursos y restricciones</a:t>
            </a:r>
            <a:endParaRPr lang="en-US" sz="1400" dirty="0"/>
          </a:p>
        </p:txBody>
      </p:sp>
      <p:sp>
        <p:nvSpPr>
          <p:cNvPr id="20" name="Shape 18"/>
          <p:cNvSpPr/>
          <p:nvPr/>
        </p:nvSpPr>
        <p:spPr>
          <a:xfrm>
            <a:off x="8870950" y="2791321"/>
            <a:ext cx="2508250" cy="1975941"/>
          </a:xfrm>
          <a:prstGeom prst="roundRect">
            <a:avLst>
              <a:gd name="adj" fmla="val 5142"/>
            </a:avLst>
          </a:prstGeom>
          <a:solidFill>
            <a:srgbClr val="FFFDF9"/>
          </a:solidFill>
          <a:ln/>
        </p:spPr>
      </p:sp>
      <p:sp>
        <p:nvSpPr>
          <p:cNvPr id="21" name="Shape 19"/>
          <p:cNvSpPr/>
          <p:nvPr/>
        </p:nvSpPr>
        <p:spPr>
          <a:xfrm>
            <a:off x="8870950" y="2791321"/>
            <a:ext cx="2508250" cy="1975941"/>
          </a:xfrm>
          <a:custGeom>
            <a:avLst/>
            <a:gdLst/>
            <a:ahLst/>
            <a:cxnLst/>
            <a:rect l="l" t="t" r="r" b="b"/>
            <a:pathLst>
              <a:path w="2508250" h="1975941">
                <a:moveTo>
                  <a:pt x="0" y="101600"/>
                </a:moveTo>
                <a:lnTo>
                  <a:pt x="0" y="101600"/>
                </a:lnTo>
                <a:arcTo hR="101600" wR="101600" stAng="10800000" swAng="5400000"/>
                <a:lnTo>
                  <a:pt x="2406650" y="0"/>
                </a:lnTo>
                <a:arcTo hR="101600" wR="101600" stAng="16200000" swAng="5400000"/>
                <a:lnTo>
                  <a:pt x="2508250" y="101600"/>
                </a:lnTo>
                <a:arcTo hR="50800" wR="101600" stAng="0" swAng="-5400000"/>
                <a:lnTo>
                  <a:pt x="101600" y="50800"/>
                </a:lnTo>
                <a:arcTo hR="50800" wR="101600" stAng="16200000" swAng="-5400000"/>
                <a:close/>
              </a:path>
            </a:pathLst>
          </a:custGeom>
          <a:solidFill>
            <a:srgbClr val="2F6F8F"/>
          </a:solidFill>
          <a:ln/>
        </p:spPr>
      </p:sp>
      <p:sp>
        <p:nvSpPr>
          <p:cNvPr id="22" name="Text 20"/>
          <p:cNvSpPr/>
          <p:nvPr/>
        </p:nvSpPr>
        <p:spPr>
          <a:xfrm>
            <a:off x="9099550" y="3070721"/>
            <a:ext cx="211258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F6F8F"/>
                </a:solidFill>
                <a:latin typeface="Domine" pitchFamily="18" charset="0"/>
                <a:ea typeface="Domine" pitchFamily="18" charset="-122"/>
                <a:cs typeface="Domine" pitchFamily="18" charset="-120"/>
              </a:rPr>
              <a:t>4</a:t>
            </a:r>
            <a:endParaRPr lang="en-US" sz="2800" dirty="0"/>
          </a:p>
        </p:txBody>
      </p:sp>
      <p:sp>
        <p:nvSpPr>
          <p:cNvPr id="23" name="Text 21"/>
          <p:cNvSpPr/>
          <p:nvPr/>
        </p:nvSpPr>
        <p:spPr>
          <a:xfrm>
            <a:off x="9099550" y="3670102"/>
            <a:ext cx="2112582"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3A"/>
                </a:solidFill>
                <a:latin typeface="Nunito Sans" pitchFamily="34" charset="0"/>
                <a:ea typeface="Nunito Sans" pitchFamily="34" charset="-122"/>
                <a:cs typeface="Nunito Sans" pitchFamily="34" charset="-120"/>
              </a:rPr>
              <a:t>¿Cómo sé que lo logré?</a:t>
            </a:r>
            <a:endParaRPr lang="en-US" sz="1700" dirty="0"/>
          </a:p>
        </p:txBody>
      </p:sp>
      <p:sp>
        <p:nvSpPr>
          <p:cNvPr id="24" name="Text 22"/>
          <p:cNvSpPr/>
          <p:nvPr/>
        </p:nvSpPr>
        <p:spPr>
          <a:xfrm>
            <a:off x="9099550" y="4289822"/>
            <a:ext cx="211258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Nunito Sans" pitchFamily="34" charset="0"/>
                <a:ea typeface="Nunito Sans" pitchFamily="34" charset="-122"/>
                <a:cs typeface="Nunito Sans" pitchFamily="34" charset="-120"/>
              </a:rPr>
              <a:t>El criterio de éxito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E8DC"/>
        </a:solidFill>
      </p:bgPr>
    </p:bg>
    <p:spTree>
      <p:nvGrpSpPr>
        <p:cNvPr id="1" name=""/>
        <p:cNvGrpSpPr/>
        <p:nvPr/>
      </p:nvGrpSpPr>
      <p:grpSpPr>
        <a:xfrm>
          <a:off x="0" y="0"/>
          <a:ext cx="0" cy="0"/>
          <a:chOff x="0" y="0"/>
          <a:chExt cx="0" cy="0"/>
        </a:xfrm>
      </p:grpSpPr>
      <p:sp>
        <p:nvSpPr>
          <p:cNvPr id="2" name="Text 0"/>
          <p:cNvSpPr/>
          <p:nvPr/>
        </p:nvSpPr>
        <p:spPr>
          <a:xfrm>
            <a:off x="812800" y="195838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3561A"/>
                </a:solidFill>
                <a:latin typeface="Nunito Sans" pitchFamily="34" charset="0"/>
                <a:ea typeface="Nunito Sans" pitchFamily="34" charset="-122"/>
                <a:cs typeface="Nunito Sans" pitchFamily="34" charset="-120"/>
              </a:rPr>
              <a:t>LA PLANTILLA</a:t>
            </a:r>
            <a:endParaRPr lang="en-US" sz="1300" dirty="0"/>
          </a:p>
        </p:txBody>
      </p:sp>
      <p:sp>
        <p:nvSpPr>
          <p:cNvPr id="3" name="Text 1"/>
          <p:cNvSpPr/>
          <p:nvPr/>
        </p:nvSpPr>
        <p:spPr>
          <a:xfrm>
            <a:off x="812800" y="2545060"/>
            <a:ext cx="10883392" cy="1739900"/>
          </a:xfrm>
          <a:prstGeom prst="rect">
            <a:avLst/>
          </a:prstGeom>
          <a:noFill/>
          <a:ln/>
        </p:spPr>
        <p:txBody>
          <a:bodyPr wrap="square" lIns="0" tIns="0" rIns="0" bIns="0" rtlCol="0" anchor="t">
            <a:normAutofit/>
          </a:bodyPr>
          <a:lstStyle/>
          <a:p>
            <a:pPr algn="l" indent="0" marL="0">
              <a:lnSpc>
                <a:spcPts val="4500"/>
              </a:lnSpc>
              <a:buNone/>
            </a:pPr>
            <a:r>
              <a:rPr lang="en-US" sz="3000" dirty="0">
                <a:solidFill>
                  <a:srgbClr val="1F2A3A"/>
                </a:solidFill>
                <a:latin typeface="Domine" pitchFamily="18" charset="0"/>
                <a:ea typeface="Domine" pitchFamily="18" charset="-122"/>
                <a:cs typeface="Domine" pitchFamily="18" charset="-120"/>
              </a:rPr>
              <a:t>“Quiero pasar de </a:t>
            </a:r>
            <a:r>
              <a:rPr lang="en-US" sz="3000" dirty="0">
                <a:solidFill>
                  <a:srgbClr val="2F6F8F"/>
                </a:solidFill>
                <a:latin typeface="Domine" pitchFamily="18" charset="0"/>
                <a:ea typeface="Domine" pitchFamily="18" charset="-122"/>
                <a:cs typeface="Domine" pitchFamily="18" charset="-120"/>
              </a:rPr>
              <a:t>______</a:t>
            </a:r>
            <a:r>
              <a:rPr lang="en-US" sz="3000" dirty="0">
                <a:solidFill>
                  <a:srgbClr val="1F2A3A"/>
                </a:solidFill>
                <a:latin typeface="Domine" pitchFamily="18" charset="0"/>
                <a:ea typeface="Domine" pitchFamily="18" charset="-122"/>
                <a:cs typeface="Domine" pitchFamily="18" charset="-120"/>
              </a:rPr>
              <a:t> a </a:t>
            </a:r>
            <a:r>
              <a:rPr lang="en-US" sz="3000" dirty="0">
                <a:solidFill>
                  <a:srgbClr val="2F6F8F"/>
                </a:solidFill>
                <a:latin typeface="Domine" pitchFamily="18" charset="0"/>
                <a:ea typeface="Domine" pitchFamily="18" charset="-122"/>
                <a:cs typeface="Domine" pitchFamily="18" charset="-120"/>
              </a:rPr>
              <a:t>______</a:t>
            </a:r>
            <a:r>
              <a:rPr lang="en-US" sz="3000" dirty="0">
                <a:solidFill>
                  <a:srgbClr val="1F2A3A"/>
                </a:solidFill>
                <a:latin typeface="Domine" pitchFamily="18" charset="0"/>
                <a:ea typeface="Domine" pitchFamily="18" charset="-122"/>
                <a:cs typeface="Domine" pitchFamily="18" charset="-120"/>
              </a:rPr>
              <a:t>, contando con </a:t>
            </a:r>
            <a:r>
              <a:rPr lang="en-US" sz="3000" dirty="0">
                <a:solidFill>
                  <a:srgbClr val="2F6F8F"/>
                </a:solidFill>
                <a:latin typeface="Domine" pitchFamily="18" charset="0"/>
                <a:ea typeface="Domine" pitchFamily="18" charset="-122"/>
                <a:cs typeface="Domine" pitchFamily="18" charset="-120"/>
              </a:rPr>
              <a:t>______</a:t>
            </a:r>
            <a:r>
              <a:rPr lang="en-US" sz="3000" dirty="0">
                <a:solidFill>
                  <a:srgbClr val="1F2A3A"/>
                </a:solidFill>
                <a:latin typeface="Domine" pitchFamily="18" charset="0"/>
                <a:ea typeface="Domine" pitchFamily="18" charset="-122"/>
                <a:cs typeface="Domine" pitchFamily="18" charset="-120"/>
              </a:rPr>
              <a:t> y teniendo en cuenta que </a:t>
            </a:r>
            <a:r>
              <a:rPr lang="en-US" sz="3000" dirty="0">
                <a:solidFill>
                  <a:srgbClr val="2F6F8F"/>
                </a:solidFill>
                <a:latin typeface="Domine" pitchFamily="18" charset="0"/>
                <a:ea typeface="Domine" pitchFamily="18" charset="-122"/>
                <a:cs typeface="Domine" pitchFamily="18" charset="-120"/>
              </a:rPr>
              <a:t>______</a:t>
            </a:r>
            <a:r>
              <a:rPr lang="en-US" sz="3000" dirty="0">
                <a:solidFill>
                  <a:srgbClr val="1F2A3A"/>
                </a:solidFill>
                <a:latin typeface="Domine" pitchFamily="18" charset="0"/>
                <a:ea typeface="Domine" pitchFamily="18" charset="-122"/>
                <a:cs typeface="Domine" pitchFamily="18" charset="-120"/>
              </a:rPr>
              <a:t>. Voy a saber que lo logré cuando </a:t>
            </a:r>
            <a:r>
              <a:rPr lang="en-US" sz="3000" dirty="0">
                <a:solidFill>
                  <a:srgbClr val="2F6F8F"/>
                </a:solidFill>
                <a:latin typeface="Domine" pitchFamily="18" charset="0"/>
                <a:ea typeface="Domine" pitchFamily="18" charset="-122"/>
                <a:cs typeface="Domine" pitchFamily="18" charset="-120"/>
              </a:rPr>
              <a:t>______</a:t>
            </a:r>
            <a:r>
              <a:rPr lang="en-US" sz="3000" dirty="0">
                <a:solidFill>
                  <a:srgbClr val="1F2A3A"/>
                </a:solidFill>
                <a:latin typeface="Domine" pitchFamily="18" charset="0"/>
                <a:ea typeface="Domine" pitchFamily="18" charset="-122"/>
                <a:cs typeface="Domine" pitchFamily="18" charset="-120"/>
              </a:rPr>
              <a:t>.”</a:t>
            </a:r>
            <a:endParaRPr lang="en-US" sz="3000" dirty="0"/>
          </a:p>
        </p:txBody>
      </p:sp>
      <p:sp>
        <p:nvSpPr>
          <p:cNvPr id="4" name="Text 2"/>
          <p:cNvSpPr/>
          <p:nvPr/>
        </p:nvSpPr>
        <p:spPr>
          <a:xfrm>
            <a:off x="812800" y="46151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Nunito Sans" pitchFamily="34" charset="0"/>
                <a:ea typeface="Nunito Sans" pitchFamily="34" charset="-122"/>
                <a:cs typeface="Nunito Sans" pitchFamily="34" charset="-120"/>
              </a:rPr>
              <a:t>Situación actual · objetivo · recursos · restricciones · criterio de éxito</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La plantilla aplicada al caso</a:t>
            </a:r>
            <a:endParaRPr lang="en-US" sz="3200" dirty="0"/>
          </a:p>
        </p:txBody>
      </p:sp>
      <p:sp>
        <p:nvSpPr>
          <p:cNvPr id="3" name="Shape 1"/>
          <p:cNvSpPr/>
          <p:nvPr/>
        </p:nvSpPr>
        <p:spPr>
          <a:xfrm>
            <a:off x="815975" y="1588095"/>
            <a:ext cx="10560050" cy="1177230"/>
          </a:xfrm>
          <a:prstGeom prst="roundRect">
            <a:avLst>
              <a:gd name="adj" fmla="val 10518"/>
            </a:avLst>
          </a:prstGeom>
          <a:solidFill>
            <a:srgbClr val="FFFDF9"/>
          </a:solidFill>
          <a:ln w="6350">
            <a:solidFill>
              <a:srgbClr val="E2DACB"/>
            </a:solidFill>
            <a:prstDash val="solid"/>
          </a:ln>
        </p:spPr>
      </p:sp>
      <p:sp>
        <p:nvSpPr>
          <p:cNvPr id="4" name="Text 2"/>
          <p:cNvSpPr/>
          <p:nvPr/>
        </p:nvSpPr>
        <p:spPr>
          <a:xfrm>
            <a:off x="1073150" y="1845270"/>
            <a:ext cx="10347071"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3561A"/>
                </a:solidFill>
                <a:latin typeface="Nunito Sans" pitchFamily="34" charset="0"/>
                <a:ea typeface="Nunito Sans" pitchFamily="34" charset="-122"/>
                <a:cs typeface="Nunito Sans" pitchFamily="34" charset="-120"/>
              </a:rPr>
              <a:t>ANTES</a:t>
            </a:r>
            <a:endParaRPr lang="en-US" sz="1300" dirty="0"/>
          </a:p>
        </p:txBody>
      </p:sp>
      <p:sp>
        <p:nvSpPr>
          <p:cNvPr id="5" name="Text 3"/>
          <p:cNvSpPr/>
          <p:nvPr/>
        </p:nvSpPr>
        <p:spPr>
          <a:xfrm>
            <a:off x="1073150" y="2152551"/>
            <a:ext cx="10347071" cy="381000"/>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4A5568"/>
                </a:solidFill>
                <a:latin typeface="Nunito Sans" pitchFamily="34" charset="0"/>
                <a:ea typeface="Nunito Sans" pitchFamily="34" charset="-122"/>
                <a:cs typeface="Nunito Sans" pitchFamily="34" charset="-120"/>
              </a:rPr>
              <a:t>“Quiero abrir un emprendimiento gastronómico.”</a:t>
            </a:r>
            <a:endParaRPr lang="en-US" sz="2000" dirty="0"/>
          </a:p>
        </p:txBody>
      </p:sp>
      <p:sp>
        <p:nvSpPr>
          <p:cNvPr id="6" name="Shape 4"/>
          <p:cNvSpPr/>
          <p:nvPr/>
        </p:nvSpPr>
        <p:spPr>
          <a:xfrm>
            <a:off x="819150" y="3079651"/>
            <a:ext cx="10553700" cy="2153543"/>
          </a:xfrm>
          <a:prstGeom prst="roundRect">
            <a:avLst>
              <a:gd name="adj" fmla="val 5602"/>
            </a:avLst>
          </a:prstGeom>
          <a:solidFill>
            <a:srgbClr val="FFFDF9"/>
          </a:solidFill>
          <a:ln w="12700">
            <a:solidFill>
              <a:srgbClr val="2F6F8F"/>
            </a:solidFill>
            <a:prstDash val="solid"/>
          </a:ln>
        </p:spPr>
      </p:sp>
      <p:sp>
        <p:nvSpPr>
          <p:cNvPr id="7" name="Text 5"/>
          <p:cNvSpPr/>
          <p:nvPr/>
        </p:nvSpPr>
        <p:spPr>
          <a:xfrm>
            <a:off x="1079500" y="3340001"/>
            <a:ext cx="10333990"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8F"/>
                </a:solidFill>
                <a:latin typeface="Nunito Sans" pitchFamily="34" charset="0"/>
                <a:ea typeface="Nunito Sans" pitchFamily="34" charset="-122"/>
                <a:cs typeface="Nunito Sans" pitchFamily="34" charset="-120"/>
              </a:rPr>
              <a:t>DESPUÉS</a:t>
            </a:r>
            <a:endParaRPr lang="en-US" sz="1300" dirty="0"/>
          </a:p>
        </p:txBody>
      </p:sp>
      <p:sp>
        <p:nvSpPr>
          <p:cNvPr id="8" name="Text 6"/>
          <p:cNvSpPr/>
          <p:nvPr/>
        </p:nvSpPr>
        <p:spPr>
          <a:xfrm>
            <a:off x="1079500" y="3647281"/>
            <a:ext cx="10333990" cy="1350963"/>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1F2A3A"/>
                </a:solidFill>
                <a:latin typeface="Nunito Sans" pitchFamily="34" charset="0"/>
                <a:ea typeface="Nunito Sans" pitchFamily="34" charset="-122"/>
                <a:cs typeface="Nunito Sans" pitchFamily="34" charset="-120"/>
              </a:rPr>
              <a:t>“Quiero pasar de tener una idea a tener </a:t>
            </a:r>
            <a:r>
              <a:rPr lang="en-US" sz="1800" b="1" dirty="0">
                <a:solidFill>
                  <a:srgbClr val="1F2A3A"/>
                </a:solidFill>
                <a:latin typeface="Nunito Sans" pitchFamily="34" charset="0"/>
                <a:ea typeface="Nunito Sans" pitchFamily="34" charset="-122"/>
                <a:cs typeface="Nunito Sans" pitchFamily="34" charset="-120"/>
              </a:rPr>
              <a:t>una cafetería pequeña funcionando en San Fernando del Valle de Catamarca</a:t>
            </a:r>
            <a:r>
              <a:rPr lang="en-US" sz="1800" dirty="0">
                <a:solidFill>
                  <a:srgbClr val="1F2A3A"/>
                </a:solidFill>
                <a:latin typeface="Nunito Sans" pitchFamily="34" charset="0"/>
                <a:ea typeface="Nunito Sans" pitchFamily="34" charset="-122"/>
                <a:cs typeface="Nunito Sans" pitchFamily="34" charset="-120"/>
              </a:rPr>
              <a:t>, contando con </a:t>
            </a:r>
            <a:r>
              <a:rPr lang="en-US" sz="1800" b="1" dirty="0">
                <a:solidFill>
                  <a:srgbClr val="1F2A3A"/>
                </a:solidFill>
                <a:latin typeface="Nunito Sans" pitchFamily="34" charset="0"/>
                <a:ea typeface="Nunito Sans" pitchFamily="34" charset="-122"/>
                <a:cs typeface="Nunito Sans" pitchFamily="34" charset="-120"/>
              </a:rPr>
              <a:t>unos ahorros y sin experiencia en el rubro</a:t>
            </a:r>
            <a:r>
              <a:rPr lang="en-US" sz="1800" dirty="0">
                <a:solidFill>
                  <a:srgbClr val="1F2A3A"/>
                </a:solidFill>
                <a:latin typeface="Nunito Sans" pitchFamily="34" charset="0"/>
                <a:ea typeface="Nunito Sans" pitchFamily="34" charset="-122"/>
                <a:cs typeface="Nunito Sans" pitchFamily="34" charset="-120"/>
              </a:rPr>
              <a:t>, y teniendo en cuenta que </a:t>
            </a:r>
            <a:r>
              <a:rPr lang="en-US" sz="1800" b="1" dirty="0">
                <a:solidFill>
                  <a:srgbClr val="1F2A3A"/>
                </a:solidFill>
                <a:latin typeface="Nunito Sans" pitchFamily="34" charset="0"/>
                <a:ea typeface="Nunito Sans" pitchFamily="34" charset="-122"/>
                <a:cs typeface="Nunito Sans" pitchFamily="34" charset="-120"/>
              </a:rPr>
              <a:t>sigo trabajando en relación de dependencia</a:t>
            </a:r>
            <a:r>
              <a:rPr lang="en-US" sz="1800" dirty="0">
                <a:solidFill>
                  <a:srgbClr val="1F2A3A"/>
                </a:solidFill>
                <a:latin typeface="Nunito Sans" pitchFamily="34" charset="0"/>
                <a:ea typeface="Nunito Sans" pitchFamily="34" charset="-122"/>
                <a:cs typeface="Nunito Sans" pitchFamily="34" charset="-120"/>
              </a:rPr>
              <a:t>. Voy a saber que lo logré cuando </a:t>
            </a:r>
            <a:r>
              <a:rPr lang="en-US" sz="1800" b="1" dirty="0">
                <a:solidFill>
                  <a:srgbClr val="1F2A3A"/>
                </a:solidFill>
                <a:latin typeface="Nunito Sans" pitchFamily="34" charset="0"/>
                <a:ea typeface="Nunito Sans" pitchFamily="34" charset="-122"/>
                <a:cs typeface="Nunito Sans" pitchFamily="34" charset="-120"/>
              </a:rPr>
              <a:t>tenga el local habilitado y abierto al público en un año</a:t>
            </a:r>
            <a:r>
              <a:rPr lang="en-US" sz="1800" dirty="0">
                <a:solidFill>
                  <a:srgbClr val="1F2A3A"/>
                </a:solidFill>
                <a:latin typeface="Nunito Sans" pitchFamily="34" charset="0"/>
                <a:ea typeface="Nunito Sans" pitchFamily="34" charset="-122"/>
                <a:cs typeface="Nunito Sans" pitchFamily="34" charset="-120"/>
              </a:rPr>
              <a: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3561A"/>
                </a:solidFill>
                <a:latin typeface="Nunito Sans" pitchFamily="34" charset="0"/>
                <a:ea typeface="Nunito Sans" pitchFamily="34" charset="-122"/>
                <a:cs typeface="Nunito Sans" pitchFamily="34" charset="-120"/>
              </a:rPr>
              <a:t>CRITERIO 2</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Desagregar el problema y el proceso</a:t>
            </a:r>
            <a:endParaRPr lang="en-US" sz="3200" dirty="0"/>
          </a:p>
        </p:txBody>
      </p:sp>
      <p:sp>
        <p:nvSpPr>
          <p:cNvPr id="4" name="Text 2"/>
          <p:cNvSpPr/>
          <p:nvPr/>
        </p:nvSpPr>
        <p:spPr>
          <a:xfrm>
            <a:off x="812800" y="191760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Nunito Sans" pitchFamily="34" charset="0"/>
                <a:ea typeface="Nunito Sans" pitchFamily="34" charset="-122"/>
                <a:cs typeface="Nunito Sans" pitchFamily="34" charset="-120"/>
              </a:rPr>
              <a:t>Un problema grande no se resuelve de una vez. Se divide de dos formas que se complementan:</a:t>
            </a:r>
            <a:endParaRPr lang="en-US" sz="1600" dirty="0"/>
          </a:p>
        </p:txBody>
      </p:sp>
      <p:sp>
        <p:nvSpPr>
          <p:cNvPr id="5" name="Shape 3"/>
          <p:cNvSpPr/>
          <p:nvPr/>
        </p:nvSpPr>
        <p:spPr>
          <a:xfrm>
            <a:off x="819150" y="2513211"/>
            <a:ext cx="5143500" cy="1313160"/>
          </a:xfrm>
          <a:prstGeom prst="roundRect">
            <a:avLst>
              <a:gd name="adj" fmla="val 9188"/>
            </a:avLst>
          </a:prstGeom>
          <a:solidFill>
            <a:srgbClr val="FFFDF9"/>
          </a:solidFill>
          <a:ln w="12700">
            <a:solidFill>
              <a:srgbClr val="2F6F8F"/>
            </a:solidFill>
            <a:prstDash val="solid"/>
          </a:ln>
        </p:spPr>
      </p:sp>
      <p:sp>
        <p:nvSpPr>
          <p:cNvPr id="6" name="Text 4"/>
          <p:cNvSpPr/>
          <p:nvPr/>
        </p:nvSpPr>
        <p:spPr>
          <a:xfrm>
            <a:off x="1130300" y="2824361"/>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6F8F"/>
                </a:solidFill>
                <a:latin typeface="Nunito Sans" pitchFamily="34" charset="0"/>
                <a:ea typeface="Nunito Sans" pitchFamily="34" charset="-122"/>
                <a:cs typeface="Nunito Sans" pitchFamily="34" charset="-120"/>
              </a:rPr>
              <a:t>Partes del problema</a:t>
            </a:r>
            <a:endParaRPr lang="en-US" sz="2000" dirty="0"/>
          </a:p>
        </p:txBody>
      </p:sp>
      <p:sp>
        <p:nvSpPr>
          <p:cNvPr id="7" name="Text 5"/>
          <p:cNvSpPr/>
          <p:nvPr/>
        </p:nvSpPr>
        <p:spPr>
          <a:xfrm>
            <a:off x="1130300" y="3230761"/>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A"/>
                </a:solidFill>
                <a:latin typeface="Nunito Sans" pitchFamily="34" charset="0"/>
                <a:ea typeface="Nunito Sans" pitchFamily="34" charset="-122"/>
                <a:cs typeface="Nunito Sans" pitchFamily="34" charset="-120"/>
              </a:rPr>
              <a:t>¿Qué cosas distintas tengo que resolver?</a:t>
            </a:r>
            <a:endParaRPr lang="en-US" sz="1600" dirty="0"/>
          </a:p>
        </p:txBody>
      </p:sp>
      <p:sp>
        <p:nvSpPr>
          <p:cNvPr id="8" name="Shape 6"/>
          <p:cNvSpPr/>
          <p:nvPr/>
        </p:nvSpPr>
        <p:spPr>
          <a:xfrm>
            <a:off x="6229350" y="2513211"/>
            <a:ext cx="5143500" cy="1313160"/>
          </a:xfrm>
          <a:prstGeom prst="roundRect">
            <a:avLst>
              <a:gd name="adj" fmla="val 9188"/>
            </a:avLst>
          </a:prstGeom>
          <a:solidFill>
            <a:srgbClr val="FFFDF9"/>
          </a:solidFill>
          <a:ln w="12700">
            <a:solidFill>
              <a:srgbClr val="A3561A"/>
            </a:solidFill>
            <a:prstDash val="solid"/>
          </a:ln>
        </p:spPr>
      </p:sp>
      <p:sp>
        <p:nvSpPr>
          <p:cNvPr id="9" name="Text 7"/>
          <p:cNvSpPr/>
          <p:nvPr/>
        </p:nvSpPr>
        <p:spPr>
          <a:xfrm>
            <a:off x="6540500" y="2824361"/>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3561A"/>
                </a:solidFill>
                <a:latin typeface="Nunito Sans" pitchFamily="34" charset="0"/>
                <a:ea typeface="Nunito Sans" pitchFamily="34" charset="-122"/>
                <a:cs typeface="Nunito Sans" pitchFamily="34" charset="-120"/>
              </a:rPr>
              <a:t>Etapas del proceso</a:t>
            </a:r>
            <a:endParaRPr lang="en-US" sz="2000" dirty="0"/>
          </a:p>
        </p:txBody>
      </p:sp>
      <p:sp>
        <p:nvSpPr>
          <p:cNvPr id="10" name="Text 8"/>
          <p:cNvSpPr/>
          <p:nvPr/>
        </p:nvSpPr>
        <p:spPr>
          <a:xfrm>
            <a:off x="6540500" y="3230761"/>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A"/>
                </a:solidFill>
                <a:latin typeface="Nunito Sans" pitchFamily="34" charset="0"/>
                <a:ea typeface="Nunito Sans" pitchFamily="34" charset="-122"/>
                <a:cs typeface="Nunito Sans" pitchFamily="34" charset="-120"/>
              </a:rPr>
              <a:t>¿Qué va primero y qué depende de qué?</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¿Cómo desagrego? Preguntas guía</a:t>
            </a:r>
            <a:endParaRPr lang="en-US" sz="3200" dirty="0"/>
          </a:p>
        </p:txBody>
      </p:sp>
      <p:sp>
        <p:nvSpPr>
          <p:cNvPr id="3" name="Shape 1"/>
          <p:cNvSpPr/>
          <p:nvPr/>
        </p:nvSpPr>
        <p:spPr>
          <a:xfrm>
            <a:off x="819150" y="1591270"/>
            <a:ext cx="5143500" cy="2578100"/>
          </a:xfrm>
          <a:prstGeom prst="roundRect">
            <a:avLst>
              <a:gd name="adj" fmla="val 4680"/>
            </a:avLst>
          </a:prstGeom>
          <a:solidFill>
            <a:srgbClr val="FFFDF9"/>
          </a:solidFill>
          <a:ln w="12700">
            <a:solidFill>
              <a:srgbClr val="2F6F8F"/>
            </a:solidFill>
            <a:prstDash val="solid"/>
          </a:ln>
        </p:spPr>
      </p:sp>
      <p:sp>
        <p:nvSpPr>
          <p:cNvPr id="4" name="Text 2"/>
          <p:cNvSpPr/>
          <p:nvPr/>
        </p:nvSpPr>
        <p:spPr>
          <a:xfrm>
            <a:off x="1130300" y="1902420"/>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6F8F"/>
                </a:solidFill>
                <a:latin typeface="Nunito Sans" pitchFamily="34" charset="0"/>
                <a:ea typeface="Nunito Sans" pitchFamily="34" charset="-122"/>
                <a:cs typeface="Nunito Sans" pitchFamily="34" charset="-120"/>
              </a:rPr>
              <a:t>Para encontrar las partes</a:t>
            </a:r>
            <a:endParaRPr lang="en-US" sz="2000" dirty="0"/>
          </a:p>
        </p:txBody>
      </p:sp>
      <p:sp>
        <p:nvSpPr>
          <p:cNvPr id="5" name="Text 3"/>
          <p:cNvSpPr/>
          <p:nvPr/>
        </p:nvSpPr>
        <p:spPr>
          <a:xfrm>
            <a:off x="1194308" y="2334220"/>
            <a:ext cx="4585208" cy="15494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¿Qué necesito tener o conseguir?</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¿Quién más interviene?</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¿Qué recursos uso: tiempo, dinero, conocimientos?</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¿Qué puede salir mal?</a:t>
            </a:r>
            <a:endParaRPr lang="en-US" sz="1600" dirty="0"/>
          </a:p>
        </p:txBody>
      </p:sp>
      <p:sp>
        <p:nvSpPr>
          <p:cNvPr id="6" name="Shape 4"/>
          <p:cNvSpPr/>
          <p:nvPr/>
        </p:nvSpPr>
        <p:spPr>
          <a:xfrm>
            <a:off x="6229350" y="1591270"/>
            <a:ext cx="5143500" cy="2578100"/>
          </a:xfrm>
          <a:prstGeom prst="roundRect">
            <a:avLst>
              <a:gd name="adj" fmla="val 4680"/>
            </a:avLst>
          </a:prstGeom>
          <a:solidFill>
            <a:srgbClr val="FFFDF9"/>
          </a:solidFill>
          <a:ln w="12700">
            <a:solidFill>
              <a:srgbClr val="A3561A"/>
            </a:solidFill>
            <a:prstDash val="solid"/>
          </a:ln>
        </p:spPr>
      </p:sp>
      <p:sp>
        <p:nvSpPr>
          <p:cNvPr id="7" name="Text 5"/>
          <p:cNvSpPr/>
          <p:nvPr/>
        </p:nvSpPr>
        <p:spPr>
          <a:xfrm>
            <a:off x="6540500" y="1902420"/>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3561A"/>
                </a:solidFill>
                <a:latin typeface="Nunito Sans" pitchFamily="34" charset="0"/>
                <a:ea typeface="Nunito Sans" pitchFamily="34" charset="-122"/>
                <a:cs typeface="Nunito Sans" pitchFamily="34" charset="-120"/>
              </a:rPr>
              <a:t>Para ordenar las etapas</a:t>
            </a:r>
            <a:endParaRPr lang="en-US" sz="2000" dirty="0"/>
          </a:p>
        </p:txBody>
      </p:sp>
      <p:sp>
        <p:nvSpPr>
          <p:cNvPr id="8" name="Text 6"/>
          <p:cNvSpPr/>
          <p:nvPr/>
        </p:nvSpPr>
        <p:spPr>
          <a:xfrm>
            <a:off x="6604508" y="2334220"/>
            <a:ext cx="4585208" cy="15494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¿Qué tengo que saber antes de decidir otra cosa?</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¿Qué es caro o difícil de deshacer? Va después de verificar lo que lo condiciona.</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¿Qué puedo hacer en paralelo?</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Abrir una cafetería pequeña: las partes</a:t>
            </a:r>
            <a:endParaRPr lang="en-US" sz="3200" dirty="0"/>
          </a:p>
        </p:txBody>
      </p:sp>
      <p:sp>
        <p:nvSpPr>
          <p:cNvPr id="3" name="Shape 1"/>
          <p:cNvSpPr/>
          <p:nvPr/>
        </p:nvSpPr>
        <p:spPr>
          <a:xfrm>
            <a:off x="812800" y="1534120"/>
            <a:ext cx="1991320" cy="1419622"/>
          </a:xfrm>
          <a:prstGeom prst="roundRect">
            <a:avLst>
              <a:gd name="adj" fmla="val 7157"/>
            </a:avLst>
          </a:prstGeom>
          <a:solidFill>
            <a:srgbClr val="FFFDF9"/>
          </a:solidFill>
          <a:ln/>
        </p:spPr>
      </p:sp>
      <p:sp>
        <p:nvSpPr>
          <p:cNvPr id="4" name="Shape 2"/>
          <p:cNvSpPr/>
          <p:nvPr/>
        </p:nvSpPr>
        <p:spPr>
          <a:xfrm>
            <a:off x="812800" y="1534120"/>
            <a:ext cx="1991320" cy="1419622"/>
          </a:xfrm>
          <a:custGeom>
            <a:avLst/>
            <a:gdLst/>
            <a:ahLst/>
            <a:cxnLst/>
            <a:rect l="l" t="t" r="r" b="b"/>
            <a:pathLst>
              <a:path w="1991320" h="1419622">
                <a:moveTo>
                  <a:pt x="0" y="101600"/>
                </a:moveTo>
                <a:lnTo>
                  <a:pt x="0" y="101600"/>
                </a:lnTo>
                <a:arcTo hR="101600" wR="101600" stAng="10800000" swAng="5400000"/>
                <a:lnTo>
                  <a:pt x="1889720" y="0"/>
                </a:lnTo>
                <a:arcTo hR="101600" wR="101600" stAng="16200000" swAng="5400000"/>
                <a:lnTo>
                  <a:pt x="1991320" y="101600"/>
                </a:lnTo>
                <a:arcTo hR="50800" wR="101600" stAng="0" swAng="-5400000"/>
                <a:lnTo>
                  <a:pt x="101600" y="50800"/>
                </a:lnTo>
                <a:arcTo hR="50800" wR="101600" stAng="16200000" swAng="-5400000"/>
                <a:close/>
              </a:path>
            </a:pathLst>
          </a:custGeom>
          <a:solidFill>
            <a:srgbClr val="2F6F8F"/>
          </a:solidFill>
          <a:ln/>
        </p:spPr>
      </p:sp>
      <p:sp>
        <p:nvSpPr>
          <p:cNvPr id="5" name="Text 3"/>
          <p:cNvSpPr/>
          <p:nvPr/>
        </p:nvSpPr>
        <p:spPr>
          <a:xfrm>
            <a:off x="990600" y="1762720"/>
            <a:ext cx="1686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Formalidades</a:t>
            </a:r>
            <a:endParaRPr lang="en-US" sz="1600" dirty="0"/>
          </a:p>
        </p:txBody>
      </p:sp>
      <p:sp>
        <p:nvSpPr>
          <p:cNvPr id="6" name="Text 4"/>
          <p:cNvSpPr/>
          <p:nvPr/>
        </p:nvSpPr>
        <p:spPr>
          <a:xfrm>
            <a:off x="990600" y="2082701"/>
            <a:ext cx="168652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Inscripción impositiva, habilitación, bromatología</a:t>
            </a:r>
            <a:endParaRPr lang="en-US" sz="1300" dirty="0"/>
          </a:p>
        </p:txBody>
      </p:sp>
      <p:sp>
        <p:nvSpPr>
          <p:cNvPr id="7" name="Shape 5"/>
          <p:cNvSpPr/>
          <p:nvPr/>
        </p:nvSpPr>
        <p:spPr>
          <a:xfrm>
            <a:off x="2956520" y="1534120"/>
            <a:ext cx="1991320" cy="1419622"/>
          </a:xfrm>
          <a:prstGeom prst="roundRect">
            <a:avLst>
              <a:gd name="adj" fmla="val 7157"/>
            </a:avLst>
          </a:prstGeom>
          <a:solidFill>
            <a:srgbClr val="FFFDF9"/>
          </a:solidFill>
          <a:ln/>
        </p:spPr>
      </p:sp>
      <p:sp>
        <p:nvSpPr>
          <p:cNvPr id="8" name="Shape 6"/>
          <p:cNvSpPr/>
          <p:nvPr/>
        </p:nvSpPr>
        <p:spPr>
          <a:xfrm>
            <a:off x="2956520" y="1534120"/>
            <a:ext cx="1991320" cy="1419622"/>
          </a:xfrm>
          <a:custGeom>
            <a:avLst/>
            <a:gdLst/>
            <a:ahLst/>
            <a:cxnLst/>
            <a:rect l="l" t="t" r="r" b="b"/>
            <a:pathLst>
              <a:path w="1991320" h="1419622">
                <a:moveTo>
                  <a:pt x="0" y="101600"/>
                </a:moveTo>
                <a:lnTo>
                  <a:pt x="0" y="101600"/>
                </a:lnTo>
                <a:arcTo hR="101600" wR="101600" stAng="10800000" swAng="5400000"/>
                <a:lnTo>
                  <a:pt x="1889720" y="0"/>
                </a:lnTo>
                <a:arcTo hR="101600" wR="101600" stAng="16200000" swAng="5400000"/>
                <a:lnTo>
                  <a:pt x="1991320" y="101600"/>
                </a:lnTo>
                <a:arcTo hR="50800" wR="101600" stAng="0" swAng="-5400000"/>
                <a:lnTo>
                  <a:pt x="101600" y="50800"/>
                </a:lnTo>
                <a:arcTo hR="50800" wR="101600" stAng="16200000" swAng="-5400000"/>
                <a:close/>
              </a:path>
            </a:pathLst>
          </a:custGeom>
          <a:solidFill>
            <a:srgbClr val="2F6F8F"/>
          </a:solidFill>
          <a:ln/>
        </p:spPr>
      </p:sp>
      <p:sp>
        <p:nvSpPr>
          <p:cNvPr id="9" name="Text 7"/>
          <p:cNvSpPr/>
          <p:nvPr/>
        </p:nvSpPr>
        <p:spPr>
          <a:xfrm>
            <a:off x="3134320" y="1762720"/>
            <a:ext cx="1686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Local</a:t>
            </a:r>
            <a:endParaRPr lang="en-US" sz="1600" dirty="0"/>
          </a:p>
        </p:txBody>
      </p:sp>
      <p:sp>
        <p:nvSpPr>
          <p:cNvPr id="10" name="Text 8"/>
          <p:cNvSpPr/>
          <p:nvPr/>
        </p:nvSpPr>
        <p:spPr>
          <a:xfrm>
            <a:off x="3134320" y="2082701"/>
            <a:ext cx="168652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Zona permitida, alquiler, adecuación</a:t>
            </a:r>
            <a:endParaRPr lang="en-US" sz="1300" dirty="0"/>
          </a:p>
        </p:txBody>
      </p:sp>
      <p:sp>
        <p:nvSpPr>
          <p:cNvPr id="11" name="Shape 9"/>
          <p:cNvSpPr/>
          <p:nvPr/>
        </p:nvSpPr>
        <p:spPr>
          <a:xfrm>
            <a:off x="5100241" y="1534120"/>
            <a:ext cx="1991420" cy="1419622"/>
          </a:xfrm>
          <a:prstGeom prst="roundRect">
            <a:avLst>
              <a:gd name="adj" fmla="val 7157"/>
            </a:avLst>
          </a:prstGeom>
          <a:solidFill>
            <a:srgbClr val="FFFDF9"/>
          </a:solidFill>
          <a:ln/>
        </p:spPr>
      </p:sp>
      <p:sp>
        <p:nvSpPr>
          <p:cNvPr id="12" name="Shape 10"/>
          <p:cNvSpPr/>
          <p:nvPr/>
        </p:nvSpPr>
        <p:spPr>
          <a:xfrm>
            <a:off x="5100241" y="1534120"/>
            <a:ext cx="1991420" cy="1419622"/>
          </a:xfrm>
          <a:custGeom>
            <a:avLst/>
            <a:gdLst/>
            <a:ahLst/>
            <a:cxnLst/>
            <a:rect l="l" t="t" r="r" b="b"/>
            <a:pathLst>
              <a:path w="1991420" h="1419622">
                <a:moveTo>
                  <a:pt x="0" y="101600"/>
                </a:moveTo>
                <a:lnTo>
                  <a:pt x="0" y="101600"/>
                </a:lnTo>
                <a:arcTo hR="101600" wR="101600" stAng="10800000" swAng="5400000"/>
                <a:lnTo>
                  <a:pt x="1889820" y="0"/>
                </a:lnTo>
                <a:arcTo hR="101600" wR="101600" stAng="16200000" swAng="5400000"/>
                <a:lnTo>
                  <a:pt x="1991420" y="101600"/>
                </a:lnTo>
                <a:arcTo hR="50800" wR="101600" stAng="0" swAng="-5400000"/>
                <a:lnTo>
                  <a:pt x="101600" y="50800"/>
                </a:lnTo>
                <a:arcTo hR="50800" wR="101600" stAng="16200000" swAng="-5400000"/>
                <a:close/>
              </a:path>
            </a:pathLst>
          </a:custGeom>
          <a:solidFill>
            <a:srgbClr val="2F6F8F"/>
          </a:solidFill>
          <a:ln/>
        </p:spPr>
      </p:sp>
      <p:sp>
        <p:nvSpPr>
          <p:cNvPr id="13" name="Text 11"/>
          <p:cNvSpPr/>
          <p:nvPr/>
        </p:nvSpPr>
        <p:spPr>
          <a:xfrm>
            <a:off x="5278041" y="1762720"/>
            <a:ext cx="16866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Dinero</a:t>
            </a:r>
            <a:endParaRPr lang="en-US" sz="1600" dirty="0"/>
          </a:p>
        </p:txBody>
      </p:sp>
      <p:sp>
        <p:nvSpPr>
          <p:cNvPr id="14" name="Text 12"/>
          <p:cNvSpPr/>
          <p:nvPr/>
        </p:nvSpPr>
        <p:spPr>
          <a:xfrm>
            <a:off x="5278041" y="2082701"/>
            <a:ext cx="168662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Inversión inicial, costos mensuales, precios</a:t>
            </a:r>
            <a:endParaRPr lang="en-US" sz="1300" dirty="0"/>
          </a:p>
        </p:txBody>
      </p:sp>
      <p:sp>
        <p:nvSpPr>
          <p:cNvPr id="15" name="Shape 13"/>
          <p:cNvSpPr/>
          <p:nvPr/>
        </p:nvSpPr>
        <p:spPr>
          <a:xfrm>
            <a:off x="7244060" y="1534120"/>
            <a:ext cx="1991320" cy="1419622"/>
          </a:xfrm>
          <a:prstGeom prst="roundRect">
            <a:avLst>
              <a:gd name="adj" fmla="val 7157"/>
            </a:avLst>
          </a:prstGeom>
          <a:solidFill>
            <a:srgbClr val="FFFDF9"/>
          </a:solidFill>
          <a:ln/>
        </p:spPr>
      </p:sp>
      <p:sp>
        <p:nvSpPr>
          <p:cNvPr id="16" name="Shape 14"/>
          <p:cNvSpPr/>
          <p:nvPr/>
        </p:nvSpPr>
        <p:spPr>
          <a:xfrm>
            <a:off x="7244060" y="1534120"/>
            <a:ext cx="1991320" cy="1419622"/>
          </a:xfrm>
          <a:custGeom>
            <a:avLst/>
            <a:gdLst/>
            <a:ahLst/>
            <a:cxnLst/>
            <a:rect l="l" t="t" r="r" b="b"/>
            <a:pathLst>
              <a:path w="1991320" h="1419622">
                <a:moveTo>
                  <a:pt x="0" y="101600"/>
                </a:moveTo>
                <a:lnTo>
                  <a:pt x="0" y="101600"/>
                </a:lnTo>
                <a:arcTo hR="101600" wR="101600" stAng="10800000" swAng="5400000"/>
                <a:lnTo>
                  <a:pt x="1889720" y="0"/>
                </a:lnTo>
                <a:arcTo hR="101600" wR="101600" stAng="16200000" swAng="5400000"/>
                <a:lnTo>
                  <a:pt x="1991320" y="101600"/>
                </a:lnTo>
                <a:arcTo hR="50800" wR="101600" stAng="0" swAng="-5400000"/>
                <a:lnTo>
                  <a:pt x="101600" y="50800"/>
                </a:lnTo>
                <a:arcTo hR="50800" wR="101600" stAng="16200000" swAng="-5400000"/>
                <a:close/>
              </a:path>
            </a:pathLst>
          </a:custGeom>
          <a:solidFill>
            <a:srgbClr val="2F6F8F"/>
          </a:solidFill>
          <a:ln/>
        </p:spPr>
      </p:sp>
      <p:sp>
        <p:nvSpPr>
          <p:cNvPr id="17" name="Text 15"/>
          <p:cNvSpPr/>
          <p:nvPr/>
        </p:nvSpPr>
        <p:spPr>
          <a:xfrm>
            <a:off x="7421860" y="1762720"/>
            <a:ext cx="1686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Propuesta</a:t>
            </a:r>
            <a:endParaRPr lang="en-US" sz="1600" dirty="0"/>
          </a:p>
        </p:txBody>
      </p:sp>
      <p:sp>
        <p:nvSpPr>
          <p:cNvPr id="18" name="Text 16"/>
          <p:cNvSpPr/>
          <p:nvPr/>
        </p:nvSpPr>
        <p:spPr>
          <a:xfrm>
            <a:off x="7421860" y="2082701"/>
            <a:ext cx="168652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Productos, proveedores, diferencial</a:t>
            </a:r>
            <a:endParaRPr lang="en-US" sz="1300" dirty="0"/>
          </a:p>
        </p:txBody>
      </p:sp>
      <p:sp>
        <p:nvSpPr>
          <p:cNvPr id="19" name="Shape 17"/>
          <p:cNvSpPr/>
          <p:nvPr/>
        </p:nvSpPr>
        <p:spPr>
          <a:xfrm>
            <a:off x="9387780" y="1534120"/>
            <a:ext cx="1991420" cy="1419622"/>
          </a:xfrm>
          <a:prstGeom prst="roundRect">
            <a:avLst>
              <a:gd name="adj" fmla="val 7157"/>
            </a:avLst>
          </a:prstGeom>
          <a:solidFill>
            <a:srgbClr val="FFFDF9"/>
          </a:solidFill>
          <a:ln/>
        </p:spPr>
      </p:sp>
      <p:sp>
        <p:nvSpPr>
          <p:cNvPr id="20" name="Shape 18"/>
          <p:cNvSpPr/>
          <p:nvPr/>
        </p:nvSpPr>
        <p:spPr>
          <a:xfrm>
            <a:off x="9387780" y="1534120"/>
            <a:ext cx="1991420" cy="1419622"/>
          </a:xfrm>
          <a:custGeom>
            <a:avLst/>
            <a:gdLst/>
            <a:ahLst/>
            <a:cxnLst/>
            <a:rect l="l" t="t" r="r" b="b"/>
            <a:pathLst>
              <a:path w="1991420" h="1419622">
                <a:moveTo>
                  <a:pt x="0" y="101600"/>
                </a:moveTo>
                <a:lnTo>
                  <a:pt x="0" y="101600"/>
                </a:lnTo>
                <a:arcTo hR="101600" wR="101600" stAng="10800000" swAng="5400000"/>
                <a:lnTo>
                  <a:pt x="1889820" y="0"/>
                </a:lnTo>
                <a:arcTo hR="101600" wR="101600" stAng="16200000" swAng="5400000"/>
                <a:lnTo>
                  <a:pt x="1991420" y="101600"/>
                </a:lnTo>
                <a:arcTo hR="50800" wR="101600" stAng="0" swAng="-5400000"/>
                <a:lnTo>
                  <a:pt x="101600" y="50800"/>
                </a:lnTo>
                <a:arcTo hR="50800" wR="101600" stAng="16200000" swAng="-5400000"/>
                <a:close/>
              </a:path>
            </a:pathLst>
          </a:custGeom>
          <a:solidFill>
            <a:srgbClr val="2F6F8F"/>
          </a:solidFill>
          <a:ln/>
        </p:spPr>
      </p:sp>
      <p:sp>
        <p:nvSpPr>
          <p:cNvPr id="21" name="Text 19"/>
          <p:cNvSpPr/>
          <p:nvPr/>
        </p:nvSpPr>
        <p:spPr>
          <a:xfrm>
            <a:off x="9565580" y="1762720"/>
            <a:ext cx="16866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Clientes</a:t>
            </a:r>
            <a:endParaRPr lang="en-US" sz="1600" dirty="0"/>
          </a:p>
        </p:txBody>
      </p:sp>
      <p:sp>
        <p:nvSpPr>
          <p:cNvPr id="22" name="Text 20"/>
          <p:cNvSpPr/>
          <p:nvPr/>
        </p:nvSpPr>
        <p:spPr>
          <a:xfrm>
            <a:off x="9565580" y="2082701"/>
            <a:ext cx="168662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A quién apunto, cómo me conocen</a:t>
            </a:r>
            <a:endParaRPr lang="en-US" sz="1300" dirty="0"/>
          </a:p>
        </p:txBody>
      </p:sp>
      <p:sp>
        <p:nvSpPr>
          <p:cNvPr id="23" name="Shape 21"/>
          <p:cNvSpPr/>
          <p:nvPr/>
        </p:nvSpPr>
        <p:spPr>
          <a:xfrm>
            <a:off x="812800" y="3207742"/>
            <a:ext cx="5156200" cy="1297880"/>
          </a:xfrm>
          <a:prstGeom prst="roundRect">
            <a:avLst>
              <a:gd name="adj" fmla="val 7828"/>
            </a:avLst>
          </a:prstGeom>
          <a:solidFill>
            <a:srgbClr val="EFE8DC"/>
          </a:solidFill>
          <a:ln/>
        </p:spPr>
      </p:sp>
      <p:sp>
        <p:nvSpPr>
          <p:cNvPr id="24" name="Text 22"/>
          <p:cNvSpPr/>
          <p:nvPr/>
        </p:nvSpPr>
        <p:spPr>
          <a:xfrm>
            <a:off x="1041400" y="3436342"/>
            <a:ext cx="4839970"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3561A"/>
                </a:solidFill>
                <a:latin typeface="Nunito Sans" pitchFamily="34" charset="0"/>
                <a:ea typeface="Nunito Sans" pitchFamily="34" charset="-122"/>
                <a:cs typeface="Nunito Sans" pitchFamily="34" charset="-120"/>
              </a:rPr>
              <a:t>UNA DEPENDENCIA</a:t>
            </a:r>
            <a:endParaRPr lang="en-US" sz="1300" dirty="0"/>
          </a:p>
        </p:txBody>
      </p:sp>
      <p:sp>
        <p:nvSpPr>
          <p:cNvPr id="25" name="Text 23"/>
          <p:cNvSpPr/>
          <p:nvPr/>
        </p:nvSpPr>
        <p:spPr>
          <a:xfrm>
            <a:off x="1041400" y="3743623"/>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No conviene alquilar el local antes de saber si esa zona permite uso gastronómico.</a:t>
            </a:r>
            <a:endParaRPr lang="en-US" sz="1500" dirty="0"/>
          </a:p>
        </p:txBody>
      </p:sp>
      <p:sp>
        <p:nvSpPr>
          <p:cNvPr id="26" name="Shape 24"/>
          <p:cNvSpPr/>
          <p:nvPr/>
        </p:nvSpPr>
        <p:spPr>
          <a:xfrm>
            <a:off x="6223000" y="3207742"/>
            <a:ext cx="5156200" cy="1297880"/>
          </a:xfrm>
          <a:prstGeom prst="roundRect">
            <a:avLst>
              <a:gd name="adj" fmla="val 7828"/>
            </a:avLst>
          </a:prstGeom>
          <a:solidFill>
            <a:srgbClr val="1F2A3A"/>
          </a:solidFill>
          <a:ln/>
        </p:spPr>
      </p:sp>
      <p:sp>
        <p:nvSpPr>
          <p:cNvPr id="27" name="Text 25"/>
          <p:cNvSpPr/>
          <p:nvPr/>
        </p:nvSpPr>
        <p:spPr>
          <a:xfrm>
            <a:off x="6451600" y="3436342"/>
            <a:ext cx="4839970"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9A4A"/>
                </a:solidFill>
                <a:latin typeface="Nunito Sans" pitchFamily="34" charset="0"/>
                <a:ea typeface="Nunito Sans" pitchFamily="34" charset="-122"/>
                <a:cs typeface="Nunito Sans" pitchFamily="34" charset="-120"/>
              </a:rPr>
              <a:t>LA PREGUNTA PARA CADA PARTE</a:t>
            </a:r>
            <a:endParaRPr lang="en-US" sz="1300" dirty="0"/>
          </a:p>
        </p:txBody>
      </p:sp>
      <p:sp>
        <p:nvSpPr>
          <p:cNvPr id="28" name="Text 26"/>
          <p:cNvSpPr/>
          <p:nvPr/>
        </p:nvSpPr>
        <p:spPr>
          <a:xfrm>
            <a:off x="6451600" y="3743623"/>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4EE"/>
                </a:solidFill>
                <a:latin typeface="Nunito Sans" pitchFamily="34" charset="0"/>
                <a:ea typeface="Nunito Sans" pitchFamily="34" charset="-122"/>
                <a:cs typeface="Nunito Sans" pitchFamily="34" charset="-120"/>
              </a:rPr>
              <a:t>¿En qué me puede ayudar la IA y qué tengo que resolver o verificar yo?</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F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3561A"/>
                </a:solidFill>
                <a:latin typeface="Nunito Sans" pitchFamily="34" charset="0"/>
                <a:ea typeface="Nunito Sans" pitchFamily="34" charset="-122"/>
                <a:cs typeface="Nunito Sans" pitchFamily="34" charset="-120"/>
              </a:rPr>
              <a:t>EL MISMO MÉTODO, OTRO PROBLEMA</a:t>
            </a:r>
            <a:endParaRPr lang="en-US" sz="1300" dirty="0"/>
          </a:p>
        </p:txBody>
      </p:sp>
      <p:sp>
        <p:nvSpPr>
          <p:cNvPr id="3" name="Text 1"/>
          <p:cNvSpPr/>
          <p:nvPr>
            <p:ph type="title"/>
          </p:nvPr>
        </p:nvSpPr>
        <p:spPr>
          <a:xfrm>
            <a:off x="812800" y="11200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“Me va mal en la facultad”</a:t>
            </a:r>
            <a:endParaRPr lang="en-US" sz="3200" dirty="0"/>
          </a:p>
        </p:txBody>
      </p:sp>
      <p:sp>
        <p:nvSpPr>
          <p:cNvPr id="4" name="Shape 2"/>
          <p:cNvSpPr/>
          <p:nvPr/>
        </p:nvSpPr>
        <p:spPr>
          <a:xfrm>
            <a:off x="819150" y="1822351"/>
            <a:ext cx="10553700" cy="1660922"/>
          </a:xfrm>
          <a:prstGeom prst="roundRect">
            <a:avLst>
              <a:gd name="adj" fmla="val 7264"/>
            </a:avLst>
          </a:prstGeom>
          <a:solidFill>
            <a:srgbClr val="FFFDF9"/>
          </a:solidFill>
          <a:ln w="12700">
            <a:solidFill>
              <a:srgbClr val="2F6F8F"/>
            </a:solidFill>
            <a:prstDash val="solid"/>
          </a:ln>
        </p:spPr>
      </p:sp>
      <p:sp>
        <p:nvSpPr>
          <p:cNvPr id="5" name="Text 3"/>
          <p:cNvSpPr/>
          <p:nvPr/>
        </p:nvSpPr>
        <p:spPr>
          <a:xfrm>
            <a:off x="1054100" y="2057301"/>
            <a:ext cx="10386314"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8F"/>
                </a:solidFill>
                <a:latin typeface="Nunito Sans" pitchFamily="34" charset="0"/>
                <a:ea typeface="Nunito Sans" pitchFamily="34" charset="-122"/>
                <a:cs typeface="Nunito Sans" pitchFamily="34" charset="-120"/>
              </a:rPr>
              <a:t>FORMULADO</a:t>
            </a:r>
            <a:endParaRPr lang="en-US" sz="1300" dirty="0"/>
          </a:p>
        </p:txBody>
      </p:sp>
      <p:sp>
        <p:nvSpPr>
          <p:cNvPr id="6" name="Text 4"/>
          <p:cNvSpPr/>
          <p:nvPr/>
        </p:nvSpPr>
        <p:spPr>
          <a:xfrm>
            <a:off x="1054100" y="2364581"/>
            <a:ext cx="10386314" cy="9091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A"/>
                </a:solidFill>
                <a:latin typeface="Nunito Sans" pitchFamily="34" charset="0"/>
                <a:ea typeface="Nunito Sans" pitchFamily="34" charset="-122"/>
                <a:cs typeface="Nunito Sans" pitchFamily="34" charset="-120"/>
              </a:rPr>
              <a:t>“Quiero pasar de tener Estadística pendiente a </a:t>
            </a:r>
            <a:r>
              <a:rPr lang="en-US" sz="1600" b="1" dirty="0">
                <a:solidFill>
                  <a:srgbClr val="1F2A3A"/>
                </a:solidFill>
                <a:latin typeface="Nunito Sans" pitchFamily="34" charset="0"/>
                <a:ea typeface="Nunito Sans" pitchFamily="34" charset="-122"/>
                <a:cs typeface="Nunito Sans" pitchFamily="34" charset="-120"/>
              </a:rPr>
              <a:t>aprobar el final en la mesa de diciembre</a:t>
            </a:r>
            <a:r>
              <a:rPr lang="en-US" sz="1600" dirty="0">
                <a:solidFill>
                  <a:srgbClr val="1F2A3A"/>
                </a:solidFill>
                <a:latin typeface="Nunito Sans" pitchFamily="34" charset="0"/>
                <a:ea typeface="Nunito Sans" pitchFamily="34" charset="-122"/>
                <a:cs typeface="Nunito Sans" pitchFamily="34" charset="-120"/>
              </a:rPr>
              <a:t>, contando con </a:t>
            </a:r>
            <a:r>
              <a:rPr lang="en-US" sz="1600" b="1" dirty="0">
                <a:solidFill>
                  <a:srgbClr val="1F2A3A"/>
                </a:solidFill>
                <a:latin typeface="Nunito Sans" pitchFamily="34" charset="0"/>
                <a:ea typeface="Nunito Sans" pitchFamily="34" charset="-122"/>
                <a:cs typeface="Nunito Sans" pitchFamily="34" charset="-120"/>
              </a:rPr>
              <a:t>dos horas diarias</a:t>
            </a:r>
            <a:r>
              <a:rPr lang="en-US" sz="1600" dirty="0">
                <a:solidFill>
                  <a:srgbClr val="1F2A3A"/>
                </a:solidFill>
                <a:latin typeface="Nunito Sans" pitchFamily="34" charset="0"/>
                <a:ea typeface="Nunito Sans" pitchFamily="34" charset="-122"/>
                <a:cs typeface="Nunito Sans" pitchFamily="34" charset="-120"/>
              </a:rPr>
              <a:t> y teniendo en cuenta que </a:t>
            </a:r>
            <a:r>
              <a:rPr lang="en-US" sz="1600" b="1" dirty="0">
                <a:solidFill>
                  <a:srgbClr val="1F2A3A"/>
                </a:solidFill>
                <a:latin typeface="Nunito Sans" pitchFamily="34" charset="0"/>
                <a:ea typeface="Nunito Sans" pitchFamily="34" charset="-122"/>
                <a:cs typeface="Nunito Sans" pitchFamily="34" charset="-120"/>
              </a:rPr>
              <a:t>trabajo de mañana</a:t>
            </a:r>
            <a:r>
              <a:rPr lang="en-US" sz="1600" dirty="0">
                <a:solidFill>
                  <a:srgbClr val="1F2A3A"/>
                </a:solidFill>
                <a:latin typeface="Nunito Sans" pitchFamily="34" charset="0"/>
                <a:ea typeface="Nunito Sans" pitchFamily="34" charset="-122"/>
                <a:cs typeface="Nunito Sans" pitchFamily="34" charset="-120"/>
              </a:rPr>
              <a:t>. Voy a saber que lo logré cuando apruebe el examen.”</a:t>
            </a:r>
            <a:endParaRPr lang="en-US" sz="1600" dirty="0"/>
          </a:p>
        </p:txBody>
      </p:sp>
      <p:sp>
        <p:nvSpPr>
          <p:cNvPr id="7" name="Shape 5"/>
          <p:cNvSpPr/>
          <p:nvPr/>
        </p:nvSpPr>
        <p:spPr>
          <a:xfrm>
            <a:off x="812800" y="3718223"/>
            <a:ext cx="2527300" cy="1163141"/>
          </a:xfrm>
          <a:prstGeom prst="roundRect">
            <a:avLst>
              <a:gd name="adj" fmla="val 8735"/>
            </a:avLst>
          </a:prstGeom>
          <a:solidFill>
            <a:srgbClr val="FFFDF9"/>
          </a:solidFill>
          <a:ln/>
        </p:spPr>
      </p:sp>
      <p:sp>
        <p:nvSpPr>
          <p:cNvPr id="8" name="Shape 6"/>
          <p:cNvSpPr/>
          <p:nvPr/>
        </p:nvSpPr>
        <p:spPr>
          <a:xfrm>
            <a:off x="812800" y="3718223"/>
            <a:ext cx="2527300" cy="1163141"/>
          </a:xfrm>
          <a:custGeom>
            <a:avLst/>
            <a:gdLst/>
            <a:ahLst/>
            <a:cxnLst/>
            <a:rect l="l" t="t" r="r" b="b"/>
            <a:pathLst>
              <a:path w="2527300" h="1163141">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F6F8F"/>
          </a:solidFill>
          <a:ln/>
        </p:spPr>
      </p:sp>
      <p:sp>
        <p:nvSpPr>
          <p:cNvPr id="9" name="Text 7"/>
          <p:cNvSpPr/>
          <p:nvPr/>
        </p:nvSpPr>
        <p:spPr>
          <a:xfrm>
            <a:off x="990600" y="3946823"/>
            <a:ext cx="223685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Contenidos</a:t>
            </a:r>
            <a:endParaRPr lang="en-US" sz="1600" dirty="0"/>
          </a:p>
        </p:txBody>
      </p:sp>
      <p:sp>
        <p:nvSpPr>
          <p:cNvPr id="10" name="Text 8"/>
          <p:cNvSpPr/>
          <p:nvPr/>
        </p:nvSpPr>
        <p:spPr>
          <a:xfrm>
            <a:off x="990600" y="4241403"/>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Qué entra y qué me cuesta</a:t>
            </a:r>
            <a:endParaRPr lang="en-US" sz="1300" dirty="0"/>
          </a:p>
        </p:txBody>
      </p:sp>
      <p:sp>
        <p:nvSpPr>
          <p:cNvPr id="11" name="Shape 9"/>
          <p:cNvSpPr/>
          <p:nvPr/>
        </p:nvSpPr>
        <p:spPr>
          <a:xfrm>
            <a:off x="3492500" y="3718223"/>
            <a:ext cx="2527300" cy="1163141"/>
          </a:xfrm>
          <a:prstGeom prst="roundRect">
            <a:avLst>
              <a:gd name="adj" fmla="val 8735"/>
            </a:avLst>
          </a:prstGeom>
          <a:solidFill>
            <a:srgbClr val="FFFDF9"/>
          </a:solidFill>
          <a:ln/>
        </p:spPr>
      </p:sp>
      <p:sp>
        <p:nvSpPr>
          <p:cNvPr id="12" name="Shape 10"/>
          <p:cNvSpPr/>
          <p:nvPr/>
        </p:nvSpPr>
        <p:spPr>
          <a:xfrm>
            <a:off x="3492500" y="3718223"/>
            <a:ext cx="2527300" cy="1163141"/>
          </a:xfrm>
          <a:custGeom>
            <a:avLst/>
            <a:gdLst/>
            <a:ahLst/>
            <a:cxnLst/>
            <a:rect l="l" t="t" r="r" b="b"/>
            <a:pathLst>
              <a:path w="2527300" h="1163141">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F6F8F"/>
          </a:solidFill>
          <a:ln/>
        </p:spPr>
      </p:sp>
      <p:sp>
        <p:nvSpPr>
          <p:cNvPr id="13" name="Text 11"/>
          <p:cNvSpPr/>
          <p:nvPr/>
        </p:nvSpPr>
        <p:spPr>
          <a:xfrm>
            <a:off x="3670300" y="3946823"/>
            <a:ext cx="223685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Tiempo</a:t>
            </a:r>
            <a:endParaRPr lang="en-US" sz="1600" dirty="0"/>
          </a:p>
        </p:txBody>
      </p:sp>
      <p:sp>
        <p:nvSpPr>
          <p:cNvPr id="14" name="Text 12"/>
          <p:cNvSpPr/>
          <p:nvPr/>
        </p:nvSpPr>
        <p:spPr>
          <a:xfrm>
            <a:off x="3670300" y="4241403"/>
            <a:ext cx="22368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Semanas disponibles, plan diario</a:t>
            </a:r>
            <a:endParaRPr lang="en-US" sz="1300" dirty="0"/>
          </a:p>
        </p:txBody>
      </p:sp>
      <p:sp>
        <p:nvSpPr>
          <p:cNvPr id="15" name="Shape 13"/>
          <p:cNvSpPr/>
          <p:nvPr/>
        </p:nvSpPr>
        <p:spPr>
          <a:xfrm>
            <a:off x="6172200" y="3718223"/>
            <a:ext cx="2527300" cy="1163141"/>
          </a:xfrm>
          <a:prstGeom prst="roundRect">
            <a:avLst>
              <a:gd name="adj" fmla="val 8735"/>
            </a:avLst>
          </a:prstGeom>
          <a:solidFill>
            <a:srgbClr val="FFFDF9"/>
          </a:solidFill>
          <a:ln/>
        </p:spPr>
      </p:sp>
      <p:sp>
        <p:nvSpPr>
          <p:cNvPr id="16" name="Shape 14"/>
          <p:cNvSpPr/>
          <p:nvPr/>
        </p:nvSpPr>
        <p:spPr>
          <a:xfrm>
            <a:off x="6172200" y="3718223"/>
            <a:ext cx="2527300" cy="1163141"/>
          </a:xfrm>
          <a:custGeom>
            <a:avLst/>
            <a:gdLst/>
            <a:ahLst/>
            <a:cxnLst/>
            <a:rect l="l" t="t" r="r" b="b"/>
            <a:pathLst>
              <a:path w="2527300" h="1163141">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F6F8F"/>
          </a:solidFill>
          <a:ln/>
        </p:spPr>
      </p:sp>
      <p:sp>
        <p:nvSpPr>
          <p:cNvPr id="17" name="Text 15"/>
          <p:cNvSpPr/>
          <p:nvPr/>
        </p:nvSpPr>
        <p:spPr>
          <a:xfrm>
            <a:off x="6350000" y="3946823"/>
            <a:ext cx="223685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Materiales</a:t>
            </a:r>
            <a:endParaRPr lang="en-US" sz="1600" dirty="0"/>
          </a:p>
        </p:txBody>
      </p:sp>
      <p:sp>
        <p:nvSpPr>
          <p:cNvPr id="18" name="Text 16"/>
          <p:cNvSpPr/>
          <p:nvPr/>
        </p:nvSpPr>
        <p:spPr>
          <a:xfrm>
            <a:off x="6350000" y="4241403"/>
            <a:ext cx="22368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Apuntes, libros, exámenes viejos</a:t>
            </a:r>
            <a:endParaRPr lang="en-US" sz="1300" dirty="0"/>
          </a:p>
        </p:txBody>
      </p:sp>
      <p:sp>
        <p:nvSpPr>
          <p:cNvPr id="19" name="Shape 17"/>
          <p:cNvSpPr/>
          <p:nvPr/>
        </p:nvSpPr>
        <p:spPr>
          <a:xfrm>
            <a:off x="8851900" y="3718223"/>
            <a:ext cx="2527300" cy="1163141"/>
          </a:xfrm>
          <a:prstGeom prst="roundRect">
            <a:avLst>
              <a:gd name="adj" fmla="val 8735"/>
            </a:avLst>
          </a:prstGeom>
          <a:solidFill>
            <a:srgbClr val="FFFDF9"/>
          </a:solidFill>
          <a:ln/>
        </p:spPr>
      </p:sp>
      <p:sp>
        <p:nvSpPr>
          <p:cNvPr id="20" name="Shape 18"/>
          <p:cNvSpPr/>
          <p:nvPr/>
        </p:nvSpPr>
        <p:spPr>
          <a:xfrm>
            <a:off x="8851900" y="3718223"/>
            <a:ext cx="2527300" cy="1163141"/>
          </a:xfrm>
          <a:custGeom>
            <a:avLst/>
            <a:gdLst/>
            <a:ahLst/>
            <a:cxnLst/>
            <a:rect l="l" t="t" r="r" b="b"/>
            <a:pathLst>
              <a:path w="2527300" h="1163141">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F6F8F"/>
          </a:solidFill>
          <a:ln/>
        </p:spPr>
      </p:sp>
      <p:sp>
        <p:nvSpPr>
          <p:cNvPr id="21" name="Text 19"/>
          <p:cNvSpPr/>
          <p:nvPr/>
        </p:nvSpPr>
        <p:spPr>
          <a:xfrm>
            <a:off x="9029700" y="3946823"/>
            <a:ext cx="223685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8F"/>
                </a:solidFill>
                <a:latin typeface="Nunito Sans" pitchFamily="34" charset="0"/>
                <a:ea typeface="Nunito Sans" pitchFamily="34" charset="-122"/>
                <a:cs typeface="Nunito Sans" pitchFamily="34" charset="-120"/>
              </a:rPr>
              <a:t>Práctica</a:t>
            </a:r>
            <a:endParaRPr lang="en-US" sz="1600" dirty="0"/>
          </a:p>
        </p:txBody>
      </p:sp>
      <p:sp>
        <p:nvSpPr>
          <p:cNvPr id="22" name="Text 20"/>
          <p:cNvSpPr/>
          <p:nvPr/>
        </p:nvSpPr>
        <p:spPr>
          <a:xfrm>
            <a:off x="9029700" y="4241403"/>
            <a:ext cx="22368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Ejercicios, consultas, simulacros</a:t>
            </a:r>
            <a:endParaRPr lang="en-US" sz="1300" dirty="0"/>
          </a:p>
        </p:txBody>
      </p:sp>
      <p:sp>
        <p:nvSpPr>
          <p:cNvPr id="23" name="Text 21"/>
          <p:cNvSpPr/>
          <p:nvPr/>
        </p:nvSpPr>
        <p:spPr>
          <a:xfrm>
            <a:off x="812800" y="510996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3561A"/>
                </a:solidFill>
                <a:latin typeface="Nunito Sans" pitchFamily="34" charset="0"/>
                <a:ea typeface="Nunito Sans" pitchFamily="34" charset="-122"/>
                <a:cs typeface="Nunito Sans" pitchFamily="34" charset="-120"/>
              </a:rPr>
              <a:t>Dependencia:</a:t>
            </a:r>
            <a:r>
              <a:rPr lang="en-US" sz="1500" dirty="0">
                <a:solidFill>
                  <a:srgbClr val="1F2A3A"/>
                </a:solidFill>
                <a:latin typeface="Nunito Sans" pitchFamily="34" charset="0"/>
                <a:ea typeface="Nunito Sans" pitchFamily="34" charset="-122"/>
                <a:cs typeface="Nunito Sans" pitchFamily="34" charset="-120"/>
              </a:rPr>
              <a:t> primero reviso el programa y los exámenes anteriores; recién después armo el plan de estudio.</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F6F8F"/>
        </a:solidFill>
      </p:bgPr>
    </p:bg>
    <p:spTree>
      <p:nvGrpSpPr>
        <p:cNvPr id="1" name=""/>
        <p:cNvGrpSpPr/>
        <p:nvPr/>
      </p:nvGrpSpPr>
      <p:grpSpPr>
        <a:xfrm>
          <a:off x="0" y="0"/>
          <a:ext cx="0" cy="0"/>
          <a:chOff x="0" y="0"/>
          <a:chExt cx="0" cy="0"/>
        </a:xfrm>
      </p:grpSpPr>
      <p:sp>
        <p:nvSpPr>
          <p:cNvPr id="2" name="Text 0"/>
          <p:cNvSpPr/>
          <p:nvPr/>
        </p:nvSpPr>
        <p:spPr>
          <a:xfrm>
            <a:off x="812800" y="25375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D3EAF2"/>
                </a:solidFill>
                <a:latin typeface="Nunito Sans" pitchFamily="34" charset="0"/>
                <a:ea typeface="Nunito Sans" pitchFamily="34" charset="-122"/>
                <a:cs typeface="Nunito Sans" pitchFamily="34" charset="-120"/>
              </a:rPr>
              <a:t>SEGUNDA DEMO</a:t>
            </a:r>
            <a:endParaRPr lang="en-US" sz="1400" dirty="0"/>
          </a:p>
        </p:txBody>
      </p:sp>
      <p:sp>
        <p:nvSpPr>
          <p:cNvPr id="3" name="Text 1"/>
          <p:cNvSpPr/>
          <p:nvPr>
            <p:ph type="title"/>
          </p:nvPr>
        </p:nvSpPr>
        <p:spPr>
          <a:xfrm>
            <a:off x="812800" y="304036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2F8FA"/>
                </a:solidFill>
                <a:latin typeface="Domine" pitchFamily="18" charset="0"/>
                <a:ea typeface="Domine" pitchFamily="18" charset="-122"/>
                <a:cs typeface="Domine" pitchFamily="18" charset="-120"/>
              </a:rPr>
              <a:t>Usar bien la IA</a:t>
            </a:r>
            <a:endParaRPr lang="en-US" sz="4800" dirty="0"/>
          </a:p>
        </p:txBody>
      </p:sp>
      <p:sp>
        <p:nvSpPr>
          <p:cNvPr id="4" name="Text 2"/>
          <p:cNvSpPr/>
          <p:nvPr/>
        </p:nvSpPr>
        <p:spPr>
          <a:xfrm>
            <a:off x="812800" y="3964880"/>
            <a:ext cx="1066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2F8FA"/>
                </a:solidFill>
                <a:latin typeface="Nunito Sans" pitchFamily="34" charset="0"/>
                <a:ea typeface="Nunito Sans" pitchFamily="34" charset="-122"/>
                <a:cs typeface="Nunito Sans" pitchFamily="34" charset="-120"/>
              </a:rPr>
              <a:t>“Ahora el mismo problema, con la misma herramienta, pero pensando antes.”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Los cinco pasos en Gemini</a:t>
            </a:r>
            <a:endParaRPr lang="en-US" sz="3200" dirty="0"/>
          </a:p>
        </p:txBody>
      </p:sp>
      <p:sp>
        <p:nvSpPr>
          <p:cNvPr id="3" name="Shape 1"/>
          <p:cNvSpPr/>
          <p:nvPr/>
        </p:nvSpPr>
        <p:spPr>
          <a:xfrm>
            <a:off x="815975" y="1511895"/>
            <a:ext cx="10560050" cy="786011"/>
          </a:xfrm>
          <a:prstGeom prst="roundRect">
            <a:avLst>
              <a:gd name="adj" fmla="val 12522"/>
            </a:avLst>
          </a:prstGeom>
          <a:solidFill>
            <a:srgbClr val="FFFDF9"/>
          </a:solidFill>
          <a:ln w="6350">
            <a:solidFill>
              <a:srgbClr val="E2DACB"/>
            </a:solidFill>
            <a:prstDash val="solid"/>
          </a:ln>
        </p:spPr>
      </p:sp>
      <p:sp>
        <p:nvSpPr>
          <p:cNvPr id="4" name="Text 2"/>
          <p:cNvSpPr/>
          <p:nvPr/>
        </p:nvSpPr>
        <p:spPr>
          <a:xfrm>
            <a:off x="1022350" y="1691580"/>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F6F8F"/>
                </a:solidFill>
                <a:latin typeface="Domine" pitchFamily="18" charset="0"/>
                <a:ea typeface="Domine" pitchFamily="18" charset="-122"/>
                <a:cs typeface="Domine" pitchFamily="18" charset="-120"/>
              </a:rPr>
              <a:t>1</a:t>
            </a:r>
            <a:endParaRPr lang="en-US" sz="2400" dirty="0"/>
          </a:p>
        </p:txBody>
      </p:sp>
      <p:sp>
        <p:nvSpPr>
          <p:cNvPr id="5" name="Text 3"/>
          <p:cNvSpPr/>
          <p:nvPr/>
        </p:nvSpPr>
        <p:spPr>
          <a:xfrm>
            <a:off x="1581150" y="1654770"/>
            <a:ext cx="98761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A"/>
                </a:solidFill>
                <a:latin typeface="Nunito Sans" pitchFamily="34" charset="0"/>
                <a:ea typeface="Nunito Sans" pitchFamily="34" charset="-122"/>
                <a:cs typeface="Nunito Sans" pitchFamily="34" charset="-120"/>
              </a:rPr>
              <a:t>Formular el problema y dejar que pregunte</a:t>
            </a:r>
            <a:endParaRPr lang="en-US" sz="1600" dirty="0"/>
          </a:p>
        </p:txBody>
      </p:sp>
      <p:sp>
        <p:nvSpPr>
          <p:cNvPr id="6" name="Text 4"/>
          <p:cNvSpPr/>
          <p:nvPr/>
        </p:nvSpPr>
        <p:spPr>
          <a:xfrm>
            <a:off x="1581150" y="1923951"/>
            <a:ext cx="9876155" cy="2564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568"/>
                </a:solidFill>
                <a:latin typeface="Nunito Sans" pitchFamily="34" charset="0"/>
                <a:ea typeface="Nunito Sans" pitchFamily="34" charset="-122"/>
                <a:cs typeface="Nunito Sans" pitchFamily="34" charset="-120"/>
              </a:rPr>
              <a:t>“…Antes de darme soluciones, haceme las preguntas que necesitás.”</a:t>
            </a:r>
            <a:endParaRPr lang="en-US" sz="1300" dirty="0"/>
          </a:p>
        </p:txBody>
      </p:sp>
      <p:sp>
        <p:nvSpPr>
          <p:cNvPr id="7" name="Shape 5"/>
          <p:cNvSpPr/>
          <p:nvPr/>
        </p:nvSpPr>
        <p:spPr>
          <a:xfrm>
            <a:off x="815975" y="2405856"/>
            <a:ext cx="10560050" cy="786011"/>
          </a:xfrm>
          <a:prstGeom prst="roundRect">
            <a:avLst>
              <a:gd name="adj" fmla="val 12522"/>
            </a:avLst>
          </a:prstGeom>
          <a:solidFill>
            <a:srgbClr val="FFFDF9"/>
          </a:solidFill>
          <a:ln w="6350">
            <a:solidFill>
              <a:srgbClr val="E2DACB"/>
            </a:solidFill>
            <a:prstDash val="solid"/>
          </a:ln>
        </p:spPr>
      </p:sp>
      <p:sp>
        <p:nvSpPr>
          <p:cNvPr id="8" name="Text 6"/>
          <p:cNvSpPr/>
          <p:nvPr/>
        </p:nvSpPr>
        <p:spPr>
          <a:xfrm>
            <a:off x="1022350" y="2585541"/>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F6F8F"/>
                </a:solidFill>
                <a:latin typeface="Domine" pitchFamily="18" charset="0"/>
                <a:ea typeface="Domine" pitchFamily="18" charset="-122"/>
                <a:cs typeface="Domine" pitchFamily="18" charset="-120"/>
              </a:rPr>
              <a:t>2</a:t>
            </a:r>
            <a:endParaRPr lang="en-US" sz="2400" dirty="0"/>
          </a:p>
        </p:txBody>
      </p:sp>
      <p:sp>
        <p:nvSpPr>
          <p:cNvPr id="9" name="Text 7"/>
          <p:cNvSpPr/>
          <p:nvPr/>
        </p:nvSpPr>
        <p:spPr>
          <a:xfrm>
            <a:off x="1581150" y="2548731"/>
            <a:ext cx="98761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A"/>
                </a:solidFill>
                <a:latin typeface="Nunito Sans" pitchFamily="34" charset="0"/>
                <a:ea typeface="Nunito Sans" pitchFamily="34" charset="-122"/>
                <a:cs typeface="Nunito Sans" pitchFamily="34" charset="-120"/>
              </a:rPr>
              <a:t>Desagregar</a:t>
            </a:r>
            <a:endParaRPr lang="en-US" sz="1600" dirty="0"/>
          </a:p>
        </p:txBody>
      </p:sp>
      <p:sp>
        <p:nvSpPr>
          <p:cNvPr id="10" name="Text 8"/>
          <p:cNvSpPr/>
          <p:nvPr/>
        </p:nvSpPr>
        <p:spPr>
          <a:xfrm>
            <a:off x="1581150" y="2817912"/>
            <a:ext cx="9876155" cy="2564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568"/>
                </a:solidFill>
                <a:latin typeface="Nunito Sans" pitchFamily="34" charset="0"/>
                <a:ea typeface="Nunito Sans" pitchFamily="34" charset="-122"/>
                <a:cs typeface="Nunito Sans" pitchFamily="34" charset="-120"/>
              </a:rPr>
              <a:t>“Dividí el proyecto en partes y etapas. Todavía no me des el detalle.”</a:t>
            </a:r>
            <a:endParaRPr lang="en-US" sz="1300" dirty="0"/>
          </a:p>
        </p:txBody>
      </p:sp>
      <p:sp>
        <p:nvSpPr>
          <p:cNvPr id="11" name="Shape 9"/>
          <p:cNvSpPr/>
          <p:nvPr/>
        </p:nvSpPr>
        <p:spPr>
          <a:xfrm>
            <a:off x="815975" y="3299817"/>
            <a:ext cx="10560050" cy="786011"/>
          </a:xfrm>
          <a:prstGeom prst="roundRect">
            <a:avLst>
              <a:gd name="adj" fmla="val 12522"/>
            </a:avLst>
          </a:prstGeom>
          <a:solidFill>
            <a:srgbClr val="FFFDF9"/>
          </a:solidFill>
          <a:ln w="6350">
            <a:solidFill>
              <a:srgbClr val="E2DACB"/>
            </a:solidFill>
            <a:prstDash val="solid"/>
          </a:ln>
        </p:spPr>
      </p:sp>
      <p:sp>
        <p:nvSpPr>
          <p:cNvPr id="12" name="Text 10"/>
          <p:cNvSpPr/>
          <p:nvPr/>
        </p:nvSpPr>
        <p:spPr>
          <a:xfrm>
            <a:off x="1022350" y="3479502"/>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F6F8F"/>
                </a:solidFill>
                <a:latin typeface="Domine" pitchFamily="18" charset="0"/>
                <a:ea typeface="Domine" pitchFamily="18" charset="-122"/>
                <a:cs typeface="Domine" pitchFamily="18" charset="-120"/>
              </a:rPr>
              <a:t>3</a:t>
            </a:r>
            <a:endParaRPr lang="en-US" sz="2400" dirty="0"/>
          </a:p>
        </p:txBody>
      </p:sp>
      <p:sp>
        <p:nvSpPr>
          <p:cNvPr id="13" name="Text 11"/>
          <p:cNvSpPr/>
          <p:nvPr/>
        </p:nvSpPr>
        <p:spPr>
          <a:xfrm>
            <a:off x="1581150" y="3442692"/>
            <a:ext cx="98761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A"/>
                </a:solidFill>
                <a:latin typeface="Nunito Sans" pitchFamily="34" charset="0"/>
                <a:ea typeface="Nunito Sans" pitchFamily="34" charset="-122"/>
                <a:cs typeface="Nunito Sans" pitchFamily="34" charset="-120"/>
              </a:rPr>
              <a:t>Resolver una parte por vez</a:t>
            </a:r>
            <a:endParaRPr lang="en-US" sz="1600" dirty="0"/>
          </a:p>
        </p:txBody>
      </p:sp>
      <p:sp>
        <p:nvSpPr>
          <p:cNvPr id="14" name="Text 12"/>
          <p:cNvSpPr/>
          <p:nvPr/>
        </p:nvSpPr>
        <p:spPr>
          <a:xfrm>
            <a:off x="1581150" y="3711873"/>
            <a:ext cx="9876155" cy="2564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568"/>
                </a:solidFill>
                <a:latin typeface="Nunito Sans" pitchFamily="34" charset="0"/>
                <a:ea typeface="Nunito Sans" pitchFamily="34" charset="-122"/>
                <a:cs typeface="Nunito Sans" pitchFamily="34" charset="-120"/>
              </a:rPr>
              <a:t>“Concentrémonos solo en la inscripción impositiva…”</a:t>
            </a:r>
            <a:endParaRPr lang="en-US" sz="1300" dirty="0"/>
          </a:p>
        </p:txBody>
      </p:sp>
      <p:sp>
        <p:nvSpPr>
          <p:cNvPr id="15" name="Shape 13"/>
          <p:cNvSpPr/>
          <p:nvPr/>
        </p:nvSpPr>
        <p:spPr>
          <a:xfrm>
            <a:off x="815975" y="4193778"/>
            <a:ext cx="10560050" cy="786011"/>
          </a:xfrm>
          <a:prstGeom prst="roundRect">
            <a:avLst>
              <a:gd name="adj" fmla="val 12522"/>
            </a:avLst>
          </a:prstGeom>
          <a:solidFill>
            <a:srgbClr val="FFFDF9"/>
          </a:solidFill>
          <a:ln w="6350">
            <a:solidFill>
              <a:srgbClr val="E2DACB"/>
            </a:solidFill>
            <a:prstDash val="solid"/>
          </a:ln>
        </p:spPr>
      </p:sp>
      <p:sp>
        <p:nvSpPr>
          <p:cNvPr id="16" name="Text 14"/>
          <p:cNvSpPr/>
          <p:nvPr/>
        </p:nvSpPr>
        <p:spPr>
          <a:xfrm>
            <a:off x="1022350" y="4373463"/>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F6F8F"/>
                </a:solidFill>
                <a:latin typeface="Domine" pitchFamily="18" charset="0"/>
                <a:ea typeface="Domine" pitchFamily="18" charset="-122"/>
                <a:cs typeface="Domine" pitchFamily="18" charset="-120"/>
              </a:rPr>
              <a:t>4</a:t>
            </a:r>
            <a:endParaRPr lang="en-US" sz="2400" dirty="0"/>
          </a:p>
        </p:txBody>
      </p:sp>
      <p:sp>
        <p:nvSpPr>
          <p:cNvPr id="17" name="Text 15"/>
          <p:cNvSpPr/>
          <p:nvPr/>
        </p:nvSpPr>
        <p:spPr>
          <a:xfrm>
            <a:off x="1581150" y="4336653"/>
            <a:ext cx="98761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A"/>
                </a:solidFill>
                <a:latin typeface="Nunito Sans" pitchFamily="34" charset="0"/>
                <a:ea typeface="Nunito Sans" pitchFamily="34" charset="-122"/>
                <a:cs typeface="Nunito Sans" pitchFamily="34" charset="-120"/>
              </a:rPr>
              <a:t>Verificar lo importante</a:t>
            </a:r>
            <a:endParaRPr lang="en-US" sz="1600" dirty="0"/>
          </a:p>
        </p:txBody>
      </p:sp>
      <p:sp>
        <p:nvSpPr>
          <p:cNvPr id="18" name="Text 16"/>
          <p:cNvSpPr/>
          <p:nvPr/>
        </p:nvSpPr>
        <p:spPr>
          <a:xfrm>
            <a:off x="1581150" y="4605834"/>
            <a:ext cx="987615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Nunito Sans" pitchFamily="34" charset="0"/>
                <a:ea typeface="Nunito Sans" pitchFamily="34" charset="-122"/>
                <a:cs typeface="Nunito Sans" pitchFamily="34" charset="-120"/>
              </a:rPr>
              <a:t>Comprobar un dato concreto en un sitio oficial</a:t>
            </a:r>
            <a:endParaRPr lang="en-US" sz="1300" dirty="0"/>
          </a:p>
        </p:txBody>
      </p:sp>
      <p:sp>
        <p:nvSpPr>
          <p:cNvPr id="19" name="Shape 17"/>
          <p:cNvSpPr/>
          <p:nvPr/>
        </p:nvSpPr>
        <p:spPr>
          <a:xfrm>
            <a:off x="815975" y="5087739"/>
            <a:ext cx="10560050" cy="786011"/>
          </a:xfrm>
          <a:prstGeom prst="roundRect">
            <a:avLst>
              <a:gd name="adj" fmla="val 12522"/>
            </a:avLst>
          </a:prstGeom>
          <a:solidFill>
            <a:srgbClr val="FFFDF9"/>
          </a:solidFill>
          <a:ln w="6350">
            <a:solidFill>
              <a:srgbClr val="E2DACB"/>
            </a:solidFill>
            <a:prstDash val="solid"/>
          </a:ln>
        </p:spPr>
      </p:sp>
      <p:sp>
        <p:nvSpPr>
          <p:cNvPr id="20" name="Text 18"/>
          <p:cNvSpPr/>
          <p:nvPr/>
        </p:nvSpPr>
        <p:spPr>
          <a:xfrm>
            <a:off x="1022350" y="5267424"/>
            <a:ext cx="4064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F6F8F"/>
                </a:solidFill>
                <a:latin typeface="Domine" pitchFamily="18" charset="0"/>
                <a:ea typeface="Domine" pitchFamily="18" charset="-122"/>
                <a:cs typeface="Domine" pitchFamily="18" charset="-120"/>
              </a:rPr>
              <a:t>5</a:t>
            </a:r>
            <a:endParaRPr lang="en-US" sz="2400" dirty="0"/>
          </a:p>
        </p:txBody>
      </p:sp>
      <p:sp>
        <p:nvSpPr>
          <p:cNvPr id="21" name="Text 19"/>
          <p:cNvSpPr/>
          <p:nvPr/>
        </p:nvSpPr>
        <p:spPr>
          <a:xfrm>
            <a:off x="1581150" y="5230614"/>
            <a:ext cx="98761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A"/>
                </a:solidFill>
                <a:latin typeface="Nunito Sans" pitchFamily="34" charset="0"/>
                <a:ea typeface="Nunito Sans" pitchFamily="34" charset="-122"/>
                <a:cs typeface="Nunito Sans" pitchFamily="34" charset="-120"/>
              </a:rPr>
              <a:t>Preparar la decisión sin delegarla</a:t>
            </a:r>
            <a:endParaRPr lang="en-US" sz="1600" dirty="0"/>
          </a:p>
        </p:txBody>
      </p:sp>
      <p:sp>
        <p:nvSpPr>
          <p:cNvPr id="22" name="Text 20"/>
          <p:cNvSpPr/>
          <p:nvPr/>
        </p:nvSpPr>
        <p:spPr>
          <a:xfrm>
            <a:off x="1581150" y="5499795"/>
            <a:ext cx="9876155" cy="2564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568"/>
                </a:solidFill>
                <a:latin typeface="Nunito Sans" pitchFamily="34" charset="0"/>
                <a:ea typeface="Nunito Sans" pitchFamily="34" charset="-122"/>
                <a:cs typeface="Nunito Sans" pitchFamily="34" charset="-120"/>
              </a:rPr>
              <a:t>“No quiero que decidas por mí. ¿Qué necesito saber para decidir?”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Las dos formas de usar la IA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10553700" cy="2889250"/>
        </p:xfrm>
        <a:graphic>
          <a:graphicData uri="http://schemas.openxmlformats.org/drawingml/2006/table">
            <a:tbl>
              <a:tblPr/>
              <a:tblGrid>
                <a:gridCol w="5276850"/>
                <a:gridCol w="5276850"/>
              </a:tblGrid>
              <a:tr h="412750">
                <a:tc>
                  <a:txBody>
                    <a:bodyPr/>
                    <a:lstStyle/>
                    <a:p>
                      <a:pPr indent="0" marL="0">
                        <a:lnSpc>
                          <a:spcPts val="2100"/>
                        </a:lnSpc>
                        <a:buNone/>
                      </a:pPr>
                      <a:r>
                        <a:rPr lang="en-US" sz="1500" b="1" dirty="0">
                          <a:solidFill>
                            <a:srgbClr val="A3561A"/>
                          </a:solidFill>
                          <a:latin typeface="Nunito Sans" pitchFamily="34" charset="0"/>
                          <a:ea typeface="Nunito Sans" pitchFamily="34" charset="-122"/>
                          <a:cs typeface="Nunito Sans" pitchFamily="34" charset="-120"/>
                        </a:rPr>
                        <a:t>Primera demo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2DC"/>
                    </a:solidFill>
                  </a:tcPr>
                </a:tc>
                <a:tc>
                  <a:txBody>
                    <a:bodyPr/>
                    <a:lstStyle/>
                    <a:p>
                      <a:pPr indent="0" marL="0">
                        <a:lnSpc>
                          <a:spcPts val="2100"/>
                        </a:lnSpc>
                        <a:buNone/>
                      </a:pPr>
                      <a:r>
                        <a:rPr lang="en-US" sz="1500" b="1" dirty="0">
                          <a:solidFill>
                            <a:srgbClr val="2F6F8F"/>
                          </a:solidFill>
                          <a:latin typeface="Nunito Sans" pitchFamily="34" charset="0"/>
                          <a:ea typeface="Nunito Sans" pitchFamily="34" charset="-122"/>
                          <a:cs typeface="Nunito Sans" pitchFamily="34" charset="-120"/>
                        </a:rPr>
                        <a:t>Segunda demo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2DC"/>
                    </a:solidFill>
                  </a:tcPr>
                </a:tc>
              </a:tr>
              <a:tr h="412750">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“Quiero abrir una cafetería”</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Problema formulado con contexto y objetivo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r>
              <a:tr h="412750">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Gemini supone todo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Gemini pregunta antes de responder</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Todo de golpe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Partes y etapas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r>
              <a:tr h="412750">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Respuestas enormes y genéricas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Respuestas acotadas y útiles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Acepto sin verificar</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Verifico lo importante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BFB9B0"/>
                      </a:solidFill>
                      <a:prstDash val="solid"/>
                      <a:round/>
                      <a:headEnd type="none" w="med" len="med"/>
                      <a:tailEnd type="none" w="med" len="med"/>
                    </a:lnB>
                    <a:solidFill>
                      <a:srgbClr val="EFE8DC"/>
                    </a:solidFill>
                  </a:tcPr>
                </a:tc>
              </a:tr>
              <a:tr h="412750">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“Decidí por mí”</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c>
                  <a:txBody>
                    <a:bodyPr/>
                    <a:lstStyle/>
                    <a:p>
                      <a:pPr indent="0" marL="0">
                        <a:lnSpc>
                          <a:spcPts val="2100"/>
                        </a:lnSpc>
                        <a:buNone/>
                      </a:pPr>
                      <a:r>
                        <a:rPr lang="en-US" sz="1500" dirty="0">
                          <a:solidFill>
                            <a:srgbClr val="1F2A3A"/>
                          </a:solidFill>
                          <a:latin typeface="Nunito Sans" pitchFamily="34" charset="0"/>
                          <a:ea typeface="Nunito Sans" pitchFamily="34" charset="-122"/>
                          <a:cs typeface="Nunito Sans" pitchFamily="34" charset="-120"/>
                        </a:rPr>
                        <a:t>“¿Qué necesito saber para decidir?”</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5C3BE"/>
                      </a:solidFill>
                      <a:prstDash val="solid"/>
                      <a:round/>
                      <a:headEnd type="none" w="med" len="med"/>
                      <a:tailEnd type="none" w="med" len="med"/>
                    </a:lnL>
                    <a:lnR w="12700" cap="flat" cmpd="sng" algn="ctr">
                      <a:solidFill>
                        <a:srgbClr val="C5C3BE"/>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C5C3BE"/>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2A3A"/>
        </a:solidFill>
      </p:bgPr>
    </p:bg>
    <p:spTree>
      <p:nvGrpSpPr>
        <p:cNvPr id="1" name=""/>
        <p:cNvGrpSpPr/>
        <p:nvPr/>
      </p:nvGrpSpPr>
      <p:grpSpPr>
        <a:xfrm>
          <a:off x="0" y="0"/>
          <a:ext cx="0" cy="0"/>
          <a:chOff x="0" y="0"/>
          <a:chExt cx="0" cy="0"/>
        </a:xfrm>
      </p:grpSpPr>
      <p:sp>
        <p:nvSpPr>
          <p:cNvPr id="2" name="Text 0"/>
          <p:cNvSpPr/>
          <p:nvPr/>
        </p:nvSpPr>
        <p:spPr>
          <a:xfrm>
            <a:off x="812800" y="2362200"/>
            <a:ext cx="9810750" cy="1244600"/>
          </a:xfrm>
          <a:prstGeom prst="rect">
            <a:avLst/>
          </a:prstGeom>
          <a:noFill/>
          <a:ln/>
        </p:spPr>
        <p:txBody>
          <a:bodyPr wrap="square" lIns="0" tIns="0" rIns="0" bIns="0" rtlCol="0" anchor="t">
            <a:normAutofit/>
          </a:bodyPr>
          <a:lstStyle/>
          <a:p>
            <a:pPr algn="l" indent="0" marL="0">
              <a:lnSpc>
                <a:spcPts val="4800"/>
              </a:lnSpc>
              <a:buNone/>
            </a:pPr>
            <a:r>
              <a:rPr lang="en-US" sz="4000" b="1" dirty="0">
                <a:solidFill>
                  <a:srgbClr val="F7F4EE"/>
                </a:solidFill>
                <a:latin typeface="Domine" pitchFamily="18" charset="0"/>
                <a:ea typeface="Domine" pitchFamily="18" charset="-122"/>
                <a:cs typeface="Domine" pitchFamily="18" charset="-120"/>
              </a:rPr>
              <a:t>La herramienta y el problema fueron los mismos.</a:t>
            </a:r>
            <a:endParaRPr lang="en-US" sz="4000" dirty="0"/>
          </a:p>
        </p:txBody>
      </p:sp>
      <p:sp>
        <p:nvSpPr>
          <p:cNvPr id="3" name="Text 1"/>
          <p:cNvSpPr/>
          <p:nvPr/>
        </p:nvSpPr>
        <p:spPr>
          <a:xfrm>
            <a:off x="812800" y="3886200"/>
            <a:ext cx="9810750" cy="635000"/>
          </a:xfrm>
          <a:prstGeom prst="rect">
            <a:avLst/>
          </a:prstGeom>
          <a:noFill/>
          <a:ln/>
        </p:spPr>
        <p:txBody>
          <a:bodyPr wrap="square" lIns="0" tIns="0" rIns="0" bIns="0" rtlCol="0" anchor="t">
            <a:normAutofit/>
          </a:bodyPr>
          <a:lstStyle/>
          <a:p>
            <a:pPr algn="l" indent="0" marL="0">
              <a:lnSpc>
                <a:spcPts val="4800"/>
              </a:lnSpc>
              <a:buNone/>
            </a:pPr>
            <a:r>
              <a:rPr lang="en-US" sz="4000" b="1" dirty="0">
                <a:solidFill>
                  <a:srgbClr val="E89A4A"/>
                </a:solidFill>
                <a:latin typeface="Domine" pitchFamily="18" charset="0"/>
                <a:ea typeface="Domine" pitchFamily="18" charset="-122"/>
                <a:cs typeface="Domine" pitchFamily="18" charset="-120"/>
              </a:rPr>
              <a:t>Lo que cambió fue cómo pensamos.</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Técnicas para llevarse</a:t>
            </a:r>
            <a:endParaRPr lang="en-US" sz="3200" dirty="0"/>
          </a:p>
        </p:txBody>
      </p:sp>
      <p:sp>
        <p:nvSpPr>
          <p:cNvPr id="3" name="Shape 1"/>
          <p:cNvSpPr/>
          <p:nvPr/>
        </p:nvSpPr>
        <p:spPr>
          <a:xfrm>
            <a:off x="812800" y="1584920"/>
            <a:ext cx="5181600" cy="1423491"/>
          </a:xfrm>
          <a:prstGeom prst="roundRect">
            <a:avLst>
              <a:gd name="adj" fmla="val 7137"/>
            </a:avLst>
          </a:prstGeom>
          <a:solidFill>
            <a:srgbClr val="FFFDF9"/>
          </a:solidFill>
          <a:ln/>
        </p:spPr>
      </p:sp>
      <p:sp>
        <p:nvSpPr>
          <p:cNvPr id="4" name="Shape 2"/>
          <p:cNvSpPr/>
          <p:nvPr/>
        </p:nvSpPr>
        <p:spPr>
          <a:xfrm>
            <a:off x="812800" y="1584920"/>
            <a:ext cx="5181600" cy="1423491"/>
          </a:xfrm>
          <a:custGeom>
            <a:avLst/>
            <a:gdLst/>
            <a:ahLst/>
            <a:cxnLst/>
            <a:rect l="l" t="t" r="r" b="b"/>
            <a:pathLst>
              <a:path w="5181600" h="1423491">
                <a:moveTo>
                  <a:pt x="101600" y="1423491"/>
                </a:moveTo>
                <a:lnTo>
                  <a:pt x="101600" y="1423491"/>
                </a:lnTo>
                <a:arcTo hR="101600" wR="101600" stAng="5400000" swAng="5400000"/>
                <a:lnTo>
                  <a:pt x="0" y="101600"/>
                </a:lnTo>
                <a:arcTo hR="101600" wR="101600" stAng="10800000" swAng="5400000"/>
                <a:lnTo>
                  <a:pt x="101600" y="0"/>
                </a:lnTo>
                <a:arcTo hR="101600" wR="50800" stAng="16200000" swAng="-5400000"/>
                <a:lnTo>
                  <a:pt x="50800" y="1321891"/>
                </a:lnTo>
                <a:arcTo hR="101600" wR="50800" stAng="10800000" swAng="-5400000"/>
                <a:close/>
              </a:path>
            </a:pathLst>
          </a:custGeom>
          <a:solidFill>
            <a:srgbClr val="2F6F8F"/>
          </a:solidFill>
          <a:ln/>
        </p:spPr>
      </p:sp>
      <p:sp>
        <p:nvSpPr>
          <p:cNvPr id="5" name="Text 3"/>
          <p:cNvSpPr/>
          <p:nvPr/>
        </p:nvSpPr>
        <p:spPr>
          <a:xfrm>
            <a:off x="1117600" y="1838920"/>
            <a:ext cx="4761484"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8F"/>
                </a:solidFill>
                <a:latin typeface="Nunito Sans" pitchFamily="34" charset="0"/>
                <a:ea typeface="Nunito Sans" pitchFamily="34" charset="-122"/>
                <a:cs typeface="Nunito Sans" pitchFamily="34" charset="-120"/>
              </a:rPr>
              <a:t>PARA FORMULAR</a:t>
            </a:r>
            <a:endParaRPr lang="en-US" sz="1300" dirty="0"/>
          </a:p>
        </p:txBody>
      </p:sp>
      <p:sp>
        <p:nvSpPr>
          <p:cNvPr id="6" name="Text 4"/>
          <p:cNvSpPr/>
          <p:nvPr/>
        </p:nvSpPr>
        <p:spPr>
          <a:xfrm>
            <a:off x="1117600" y="2171601"/>
            <a:ext cx="4761484" cy="60821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F2A3A"/>
                </a:solidFill>
                <a:latin typeface="Nunito Sans" pitchFamily="34" charset="0"/>
                <a:ea typeface="Nunito Sans" pitchFamily="34" charset="-122"/>
                <a:cs typeface="Nunito Sans" pitchFamily="34" charset="-120"/>
              </a:rPr>
              <a:t>La plantilla: de dónde a dónde, con qué, teniendo en cuenta qué, y cómo sé que lo logré</a:t>
            </a:r>
            <a:endParaRPr lang="en-US" sz="1700" dirty="0"/>
          </a:p>
        </p:txBody>
      </p:sp>
      <p:sp>
        <p:nvSpPr>
          <p:cNvPr id="7" name="Shape 5"/>
          <p:cNvSpPr/>
          <p:nvPr/>
        </p:nvSpPr>
        <p:spPr>
          <a:xfrm>
            <a:off x="6197600" y="1584920"/>
            <a:ext cx="5181600" cy="1423491"/>
          </a:xfrm>
          <a:prstGeom prst="roundRect">
            <a:avLst>
              <a:gd name="adj" fmla="val 7137"/>
            </a:avLst>
          </a:prstGeom>
          <a:solidFill>
            <a:srgbClr val="FFFDF9"/>
          </a:solidFill>
          <a:ln/>
        </p:spPr>
      </p:sp>
      <p:sp>
        <p:nvSpPr>
          <p:cNvPr id="8" name="Shape 6"/>
          <p:cNvSpPr/>
          <p:nvPr/>
        </p:nvSpPr>
        <p:spPr>
          <a:xfrm>
            <a:off x="6197600" y="1584920"/>
            <a:ext cx="5181600" cy="1423491"/>
          </a:xfrm>
          <a:custGeom>
            <a:avLst/>
            <a:gdLst/>
            <a:ahLst/>
            <a:cxnLst/>
            <a:rect l="l" t="t" r="r" b="b"/>
            <a:pathLst>
              <a:path w="5181600" h="1423491">
                <a:moveTo>
                  <a:pt x="101600" y="1423491"/>
                </a:moveTo>
                <a:lnTo>
                  <a:pt x="101600" y="1423491"/>
                </a:lnTo>
                <a:arcTo hR="101600" wR="101600" stAng="5400000" swAng="5400000"/>
                <a:lnTo>
                  <a:pt x="0" y="101600"/>
                </a:lnTo>
                <a:arcTo hR="101600" wR="101600" stAng="10800000" swAng="5400000"/>
                <a:lnTo>
                  <a:pt x="101600" y="0"/>
                </a:lnTo>
                <a:arcTo hR="101600" wR="50800" stAng="16200000" swAng="-5400000"/>
                <a:lnTo>
                  <a:pt x="50800" y="1321891"/>
                </a:lnTo>
                <a:arcTo hR="101600" wR="50800" stAng="10800000" swAng="-5400000"/>
                <a:close/>
              </a:path>
            </a:pathLst>
          </a:custGeom>
          <a:solidFill>
            <a:srgbClr val="2F6F8F"/>
          </a:solidFill>
          <a:ln/>
        </p:spPr>
      </p:sp>
      <p:sp>
        <p:nvSpPr>
          <p:cNvPr id="9" name="Text 7"/>
          <p:cNvSpPr/>
          <p:nvPr/>
        </p:nvSpPr>
        <p:spPr>
          <a:xfrm>
            <a:off x="6502400" y="1838920"/>
            <a:ext cx="4761484"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8F"/>
                </a:solidFill>
                <a:latin typeface="Nunito Sans" pitchFamily="34" charset="0"/>
                <a:ea typeface="Nunito Sans" pitchFamily="34" charset="-122"/>
                <a:cs typeface="Nunito Sans" pitchFamily="34" charset="-120"/>
              </a:rPr>
              <a:t>PARA DAR CONTEXTO</a:t>
            </a:r>
            <a:endParaRPr lang="en-US" sz="1300" dirty="0"/>
          </a:p>
        </p:txBody>
      </p:sp>
      <p:sp>
        <p:nvSpPr>
          <p:cNvPr id="10" name="Text 8"/>
          <p:cNvSpPr/>
          <p:nvPr/>
        </p:nvSpPr>
        <p:spPr>
          <a:xfrm>
            <a:off x="6502400" y="2171601"/>
            <a:ext cx="4761484" cy="608211"/>
          </a:xfrm>
          <a:prstGeom prst="rect">
            <a:avLst/>
          </a:prstGeom>
          <a:noFill/>
          <a:ln/>
        </p:spPr>
        <p:txBody>
          <a:bodyPr wrap="square" lIns="0" tIns="0" rIns="0" bIns="0" rtlCol="0" anchor="t">
            <a:normAutofit/>
          </a:bodyPr>
          <a:lstStyle/>
          <a:p>
            <a:pPr algn="l" indent="0" marL="0">
              <a:lnSpc>
                <a:spcPts val="2295"/>
              </a:lnSpc>
              <a:buNone/>
            </a:pPr>
            <a:r>
              <a:rPr lang="en-US" sz="1700" i="1" dirty="0">
                <a:solidFill>
                  <a:srgbClr val="1F2A3A"/>
                </a:solidFill>
                <a:latin typeface="Nunito Sans" pitchFamily="34" charset="0"/>
                <a:ea typeface="Nunito Sans" pitchFamily="34" charset="-122"/>
                <a:cs typeface="Nunito Sans" pitchFamily="34" charset="-120"/>
              </a:rPr>
              <a:t>“Antes de darme soluciones, haceme las preguntas que necesitás.”</a:t>
            </a:r>
            <a:endParaRPr lang="en-US" sz="1700" dirty="0"/>
          </a:p>
        </p:txBody>
      </p:sp>
      <p:sp>
        <p:nvSpPr>
          <p:cNvPr id="11" name="Shape 9"/>
          <p:cNvSpPr/>
          <p:nvPr/>
        </p:nvSpPr>
        <p:spPr>
          <a:xfrm>
            <a:off x="812800" y="3211612"/>
            <a:ext cx="5181600" cy="1423491"/>
          </a:xfrm>
          <a:prstGeom prst="roundRect">
            <a:avLst>
              <a:gd name="adj" fmla="val 7137"/>
            </a:avLst>
          </a:prstGeom>
          <a:solidFill>
            <a:srgbClr val="FFFDF9"/>
          </a:solidFill>
          <a:ln/>
        </p:spPr>
      </p:sp>
      <p:sp>
        <p:nvSpPr>
          <p:cNvPr id="12" name="Shape 10"/>
          <p:cNvSpPr/>
          <p:nvPr/>
        </p:nvSpPr>
        <p:spPr>
          <a:xfrm>
            <a:off x="812800" y="3211612"/>
            <a:ext cx="5181600" cy="1423491"/>
          </a:xfrm>
          <a:custGeom>
            <a:avLst/>
            <a:gdLst/>
            <a:ahLst/>
            <a:cxnLst/>
            <a:rect l="l" t="t" r="r" b="b"/>
            <a:pathLst>
              <a:path w="5181600" h="1423491">
                <a:moveTo>
                  <a:pt x="101600" y="1423491"/>
                </a:moveTo>
                <a:lnTo>
                  <a:pt x="101600" y="1423491"/>
                </a:lnTo>
                <a:arcTo hR="101600" wR="101600" stAng="5400000" swAng="5400000"/>
                <a:lnTo>
                  <a:pt x="0" y="101600"/>
                </a:lnTo>
                <a:arcTo hR="101600" wR="101600" stAng="10800000" swAng="5400000"/>
                <a:lnTo>
                  <a:pt x="101600" y="0"/>
                </a:lnTo>
                <a:arcTo hR="101600" wR="50800" stAng="16200000" swAng="-5400000"/>
                <a:lnTo>
                  <a:pt x="50800" y="1321891"/>
                </a:lnTo>
                <a:arcTo hR="101600" wR="50800" stAng="10800000" swAng="-5400000"/>
                <a:close/>
              </a:path>
            </a:pathLst>
          </a:custGeom>
          <a:solidFill>
            <a:srgbClr val="2F6F8F"/>
          </a:solidFill>
          <a:ln/>
        </p:spPr>
      </p:sp>
      <p:sp>
        <p:nvSpPr>
          <p:cNvPr id="13" name="Text 11"/>
          <p:cNvSpPr/>
          <p:nvPr/>
        </p:nvSpPr>
        <p:spPr>
          <a:xfrm>
            <a:off x="1117600" y="3465612"/>
            <a:ext cx="4761484"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8F"/>
                </a:solidFill>
                <a:latin typeface="Nunito Sans" pitchFamily="34" charset="0"/>
                <a:ea typeface="Nunito Sans" pitchFamily="34" charset="-122"/>
                <a:cs typeface="Nunito Sans" pitchFamily="34" charset="-120"/>
              </a:rPr>
              <a:t>PARA DESAGREGAR</a:t>
            </a:r>
            <a:endParaRPr lang="en-US" sz="1300" dirty="0"/>
          </a:p>
        </p:txBody>
      </p:sp>
      <p:sp>
        <p:nvSpPr>
          <p:cNvPr id="14" name="Text 12"/>
          <p:cNvSpPr/>
          <p:nvPr/>
        </p:nvSpPr>
        <p:spPr>
          <a:xfrm>
            <a:off x="1117600" y="3798292"/>
            <a:ext cx="4761484" cy="608211"/>
          </a:xfrm>
          <a:prstGeom prst="rect">
            <a:avLst/>
          </a:prstGeom>
          <a:noFill/>
          <a:ln/>
        </p:spPr>
        <p:txBody>
          <a:bodyPr wrap="square" lIns="0" tIns="0" rIns="0" bIns="0" rtlCol="0" anchor="t">
            <a:normAutofit/>
          </a:bodyPr>
          <a:lstStyle/>
          <a:p>
            <a:pPr algn="l" indent="0" marL="0">
              <a:lnSpc>
                <a:spcPts val="2295"/>
              </a:lnSpc>
              <a:buNone/>
            </a:pPr>
            <a:r>
              <a:rPr lang="en-US" sz="1700" i="1" dirty="0">
                <a:solidFill>
                  <a:srgbClr val="1F2A3A"/>
                </a:solidFill>
                <a:latin typeface="Nunito Sans" pitchFamily="34" charset="0"/>
                <a:ea typeface="Nunito Sans" pitchFamily="34" charset="-122"/>
                <a:cs typeface="Nunito Sans" pitchFamily="34" charset="-120"/>
              </a:rPr>
              <a:t>“Dividí esto en partes y etapas, sin el detalle todavía.”</a:t>
            </a:r>
            <a:endParaRPr lang="en-US" sz="1700" dirty="0"/>
          </a:p>
        </p:txBody>
      </p:sp>
      <p:sp>
        <p:nvSpPr>
          <p:cNvPr id="15" name="Shape 13"/>
          <p:cNvSpPr/>
          <p:nvPr/>
        </p:nvSpPr>
        <p:spPr>
          <a:xfrm>
            <a:off x="6197600" y="3211612"/>
            <a:ext cx="5181600" cy="1423491"/>
          </a:xfrm>
          <a:prstGeom prst="roundRect">
            <a:avLst>
              <a:gd name="adj" fmla="val 7137"/>
            </a:avLst>
          </a:prstGeom>
          <a:solidFill>
            <a:srgbClr val="FFFDF9"/>
          </a:solidFill>
          <a:ln/>
        </p:spPr>
      </p:sp>
      <p:sp>
        <p:nvSpPr>
          <p:cNvPr id="16" name="Shape 14"/>
          <p:cNvSpPr/>
          <p:nvPr/>
        </p:nvSpPr>
        <p:spPr>
          <a:xfrm>
            <a:off x="6197600" y="3211612"/>
            <a:ext cx="5181600" cy="1423491"/>
          </a:xfrm>
          <a:custGeom>
            <a:avLst/>
            <a:gdLst/>
            <a:ahLst/>
            <a:cxnLst/>
            <a:rect l="l" t="t" r="r" b="b"/>
            <a:pathLst>
              <a:path w="5181600" h="1423491">
                <a:moveTo>
                  <a:pt x="101600" y="1423491"/>
                </a:moveTo>
                <a:lnTo>
                  <a:pt x="101600" y="1423491"/>
                </a:lnTo>
                <a:arcTo hR="101600" wR="101600" stAng="5400000" swAng="5400000"/>
                <a:lnTo>
                  <a:pt x="0" y="101600"/>
                </a:lnTo>
                <a:arcTo hR="101600" wR="101600" stAng="10800000" swAng="5400000"/>
                <a:lnTo>
                  <a:pt x="101600" y="0"/>
                </a:lnTo>
                <a:arcTo hR="101600" wR="50800" stAng="16200000" swAng="-5400000"/>
                <a:lnTo>
                  <a:pt x="50800" y="1321891"/>
                </a:lnTo>
                <a:arcTo hR="101600" wR="50800" stAng="10800000" swAng="-5400000"/>
                <a:close/>
              </a:path>
            </a:pathLst>
          </a:custGeom>
          <a:solidFill>
            <a:srgbClr val="2F6F8F"/>
          </a:solidFill>
          <a:ln/>
        </p:spPr>
      </p:sp>
      <p:sp>
        <p:nvSpPr>
          <p:cNvPr id="17" name="Text 15"/>
          <p:cNvSpPr/>
          <p:nvPr/>
        </p:nvSpPr>
        <p:spPr>
          <a:xfrm>
            <a:off x="6502400" y="3465612"/>
            <a:ext cx="4761484"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6F8F"/>
                </a:solidFill>
                <a:latin typeface="Nunito Sans" pitchFamily="34" charset="0"/>
                <a:ea typeface="Nunito Sans" pitchFamily="34" charset="-122"/>
                <a:cs typeface="Nunito Sans" pitchFamily="34" charset="-120"/>
              </a:rPr>
              <a:t>PARA DECIDIR</a:t>
            </a:r>
            <a:endParaRPr lang="en-US" sz="1300" dirty="0"/>
          </a:p>
        </p:txBody>
      </p:sp>
      <p:sp>
        <p:nvSpPr>
          <p:cNvPr id="18" name="Text 16"/>
          <p:cNvSpPr/>
          <p:nvPr/>
        </p:nvSpPr>
        <p:spPr>
          <a:xfrm>
            <a:off x="6502400" y="3798292"/>
            <a:ext cx="4761484" cy="608211"/>
          </a:xfrm>
          <a:prstGeom prst="rect">
            <a:avLst/>
          </a:prstGeom>
          <a:noFill/>
          <a:ln/>
        </p:spPr>
        <p:txBody>
          <a:bodyPr wrap="square" lIns="0" tIns="0" rIns="0" bIns="0" rtlCol="0" anchor="t">
            <a:normAutofit/>
          </a:bodyPr>
          <a:lstStyle/>
          <a:p>
            <a:pPr algn="l" indent="0" marL="0">
              <a:lnSpc>
                <a:spcPts val="2295"/>
              </a:lnSpc>
              <a:buNone/>
            </a:pPr>
            <a:r>
              <a:rPr lang="en-US" sz="1700" i="1" dirty="0">
                <a:solidFill>
                  <a:srgbClr val="1F2A3A"/>
                </a:solidFill>
                <a:latin typeface="Nunito Sans" pitchFamily="34" charset="0"/>
                <a:ea typeface="Nunito Sans" pitchFamily="34" charset="-122"/>
                <a:cs typeface="Nunito Sans" pitchFamily="34" charset="-120"/>
              </a:rPr>
              <a:t>“No quiero que decidas por mí. ¿Qué necesito saber para decidir?”</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F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A3561A"/>
                </a:solidFill>
                <a:latin typeface="Nunito Sans" pitchFamily="34" charset="0"/>
                <a:ea typeface="Nunito Sans" pitchFamily="34" charset="-122"/>
                <a:cs typeface="Nunito Sans" pitchFamily="34" charset="-120"/>
              </a:rPr>
              <a:t>TRABAJO PRÁCTICO N.º 1</a:t>
            </a:r>
            <a:endParaRPr lang="en-US" sz="1300" dirty="0"/>
          </a:p>
        </p:txBody>
      </p:sp>
      <p:sp>
        <p:nvSpPr>
          <p:cNvPr id="3" name="Text 1"/>
          <p:cNvSpPr/>
          <p:nvPr/>
        </p:nvSpPr>
        <p:spPr>
          <a:xfrm>
            <a:off x="812800" y="1120080"/>
            <a:ext cx="10883392"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A"/>
                </a:solidFill>
                <a:latin typeface="Nunito Sans" pitchFamily="34" charset="0"/>
                <a:ea typeface="Nunito Sans" pitchFamily="34" charset="-122"/>
                <a:cs typeface="Nunito Sans" pitchFamily="34" charset="-120"/>
              </a:rPr>
              <a:t>Elegí un problema o proyecto real de tu vida cotidiana, tu trabajo o tus estudios, y trabajalo con Gemini siguiendo el proceso visto en clase.</a:t>
            </a:r>
            <a:endParaRPr lang="en-US" sz="1700" dirty="0"/>
          </a:p>
        </p:txBody>
      </p:sp>
      <p:sp>
        <p:nvSpPr>
          <p:cNvPr id="4" name="Text 2"/>
          <p:cNvSpPr/>
          <p:nvPr/>
        </p:nvSpPr>
        <p:spPr>
          <a:xfrm>
            <a:off x="812800" y="195312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8F"/>
                </a:solidFill>
                <a:latin typeface="Nunito Sans" pitchFamily="34" charset="0"/>
                <a:ea typeface="Nunito Sans" pitchFamily="34" charset="-122"/>
                <a:cs typeface="Nunito Sans" pitchFamily="34" charset="-120"/>
              </a:rPr>
              <a:t>Qué tenés que entregar (dos o tres páginas)</a:t>
            </a:r>
            <a:endParaRPr lang="en-US" sz="1400" dirty="0"/>
          </a:p>
        </p:txBody>
      </p:sp>
      <p:sp>
        <p:nvSpPr>
          <p:cNvPr id="5" name="Text 3"/>
          <p:cNvSpPr/>
          <p:nvPr/>
        </p:nvSpPr>
        <p:spPr>
          <a:xfrm>
            <a:off x="866874" y="2430562"/>
            <a:ext cx="10821698" cy="1627386"/>
          </a:xfrm>
          <a:prstGeom prst="rect">
            <a:avLst/>
          </a:prstGeom>
          <a:noFill/>
          <a:ln/>
        </p:spPr>
        <p:txBody>
          <a:bodyPr wrap="square" lIns="0" tIns="0" rIns="0" bIns="0" rtlCol="0" anchor="t">
            <a:normAutofit/>
          </a:bodyPr>
          <a:lstStyle/>
          <a:p>
            <a:pPr algn="l" marL="199926" indent="-199926">
              <a:lnSpc>
                <a:spcPts val="2103"/>
              </a:lnSpc>
              <a:buSzPct val="100000"/>
              <a:buFontTx/>
              <a:buAutoNum type="arabicPeriod" startAt="1"/>
            </a:pPr>
            <a:r>
              <a:rPr lang="en-US" sz="1450" b="1" dirty="0">
                <a:solidFill>
                  <a:srgbClr val="1F2A3A"/>
                </a:solidFill>
                <a:latin typeface="Nunito Sans" pitchFamily="34" charset="0"/>
                <a:ea typeface="Nunito Sans" pitchFamily="34" charset="-122"/>
                <a:cs typeface="Nunito Sans" pitchFamily="34" charset="-120"/>
              </a:rPr>
              <a:t>Planteo inicial:</a:t>
            </a:r>
            <a:r>
              <a:rPr lang="en-US" sz="1450" dirty="0">
                <a:solidFill>
                  <a:srgbClr val="1F2A3A"/>
                </a:solidFill>
                <a:latin typeface="Nunito Sans" pitchFamily="34" charset="0"/>
                <a:ea typeface="Nunito Sans" pitchFamily="34" charset="-122"/>
                <a:cs typeface="Nunito Sans" pitchFamily="34" charset="-120"/>
              </a:rPr>
              <a:t> el problema como lo pensabas al principio, en una oración.</a:t>
            </a:r>
            <a:endParaRPr lang="en-US" sz="1450" dirty="0"/>
          </a:p>
          <a:p>
            <a:pPr algn="l" marL="199926" indent="-199926">
              <a:lnSpc>
                <a:spcPts val="2103"/>
              </a:lnSpc>
              <a:buSzPct val="100000"/>
              <a:buFontTx/>
              <a:buAutoNum type="arabicPeriod" startAt="1"/>
            </a:pPr>
            <a:r>
              <a:rPr lang="en-US" sz="1450" b="1" dirty="0">
                <a:solidFill>
                  <a:srgbClr val="1F2A3A"/>
                </a:solidFill>
                <a:latin typeface="Nunito Sans" pitchFamily="34" charset="0"/>
                <a:ea typeface="Nunito Sans" pitchFamily="34" charset="-122"/>
                <a:cs typeface="Nunito Sans" pitchFamily="34" charset="-120"/>
              </a:rPr>
              <a:t>Problema formulado</a:t>
            </a:r>
            <a:r>
              <a:rPr lang="en-US" sz="1450" dirty="0">
                <a:solidFill>
                  <a:srgbClr val="1F2A3A"/>
                </a:solidFill>
                <a:latin typeface="Nunito Sans" pitchFamily="34" charset="0"/>
                <a:ea typeface="Nunito Sans" pitchFamily="34" charset="-122"/>
                <a:cs typeface="Nunito Sans" pitchFamily="34" charset="-120"/>
              </a:rPr>
              <a:t> con la plantilla vista en clase.</a:t>
            </a:r>
            <a:endParaRPr lang="en-US" sz="1450" dirty="0"/>
          </a:p>
          <a:p>
            <a:pPr algn="l" marL="199926" indent="-199926">
              <a:lnSpc>
                <a:spcPts val="2103"/>
              </a:lnSpc>
              <a:buSzPct val="100000"/>
              <a:buFontTx/>
              <a:buAutoNum type="arabicPeriod" startAt="1"/>
            </a:pPr>
            <a:r>
              <a:rPr lang="en-US" sz="1450" b="1" dirty="0">
                <a:solidFill>
                  <a:srgbClr val="1F2A3A"/>
                </a:solidFill>
                <a:latin typeface="Nunito Sans" pitchFamily="34" charset="0"/>
                <a:ea typeface="Nunito Sans" pitchFamily="34" charset="-122"/>
                <a:cs typeface="Nunito Sans" pitchFamily="34" charset="-120"/>
              </a:rPr>
              <a:t>Desagregación propia:</a:t>
            </a:r>
            <a:r>
              <a:rPr lang="en-US" sz="1450" dirty="0">
                <a:solidFill>
                  <a:srgbClr val="1F2A3A"/>
                </a:solidFill>
                <a:latin typeface="Nunito Sans" pitchFamily="34" charset="0"/>
                <a:ea typeface="Nunito Sans" pitchFamily="34" charset="-122"/>
                <a:cs typeface="Nunito Sans" pitchFamily="34" charset="-120"/>
              </a:rPr>
              <a:t> partes y etapas, hecha antes de consultar a la IA.</a:t>
            </a:r>
            <a:endParaRPr lang="en-US" sz="1450" dirty="0"/>
          </a:p>
          <a:p>
            <a:pPr algn="l" marL="199926" indent="-199926">
              <a:lnSpc>
                <a:spcPts val="2103"/>
              </a:lnSpc>
              <a:buSzPct val="100000"/>
              <a:buFontTx/>
              <a:buAutoNum type="arabicPeriod" startAt="1"/>
            </a:pPr>
            <a:r>
              <a:rPr lang="en-US" sz="1450" b="1" dirty="0">
                <a:solidFill>
                  <a:srgbClr val="1F2A3A"/>
                </a:solidFill>
                <a:latin typeface="Nunito Sans" pitchFamily="34" charset="0"/>
                <a:ea typeface="Nunito Sans" pitchFamily="34" charset="-122"/>
                <a:cs typeface="Nunito Sans" pitchFamily="34" charset="-120"/>
              </a:rPr>
              <a:t>Desagregación con IA:</a:t>
            </a:r>
            <a:r>
              <a:rPr lang="en-US" sz="1450" dirty="0">
                <a:solidFill>
                  <a:srgbClr val="1F2A3A"/>
                </a:solidFill>
                <a:latin typeface="Nunito Sans" pitchFamily="34" charset="0"/>
                <a:ea typeface="Nunito Sans" pitchFamily="34" charset="-122"/>
                <a:cs typeface="Nunito Sans" pitchFamily="34" charset="-120"/>
              </a:rPr>
              <a:t> el prompt, lo que propuso Gemini y qué cambiaste en tu esquema y por qué.</a:t>
            </a:r>
            <a:endParaRPr lang="en-US" sz="1450" dirty="0"/>
          </a:p>
          <a:p>
            <a:pPr algn="l" marL="199926" indent="-199926">
              <a:lnSpc>
                <a:spcPts val="2103"/>
              </a:lnSpc>
              <a:buSzPct val="100000"/>
              <a:buFontTx/>
              <a:buAutoNum type="arabicPeriod" startAt="1"/>
            </a:pPr>
            <a:r>
              <a:rPr lang="en-US" sz="1450" b="1" dirty="0">
                <a:solidFill>
                  <a:srgbClr val="1F2A3A"/>
                </a:solidFill>
                <a:latin typeface="Nunito Sans" pitchFamily="34" charset="0"/>
                <a:ea typeface="Nunito Sans" pitchFamily="34" charset="-122"/>
                <a:cs typeface="Nunito Sans" pitchFamily="34" charset="-120"/>
              </a:rPr>
              <a:t>Resolución de una parte:</a:t>
            </a:r>
            <a:r>
              <a:rPr lang="en-US" sz="1450" dirty="0">
                <a:solidFill>
                  <a:srgbClr val="1F2A3A"/>
                </a:solidFill>
                <a:latin typeface="Nunito Sans" pitchFamily="34" charset="0"/>
                <a:ea typeface="Nunito Sans" pitchFamily="34" charset="-122"/>
                <a:cs typeface="Nunito Sans" pitchFamily="34" charset="-120"/>
              </a:rPr>
              <a:t> los prompts usados y al menos un dato verificado, indicando dónde.</a:t>
            </a:r>
            <a:endParaRPr lang="en-US" sz="1450" dirty="0"/>
          </a:p>
          <a:p>
            <a:pPr algn="l" marL="199926" indent="-199926">
              <a:lnSpc>
                <a:spcPts val="2103"/>
              </a:lnSpc>
              <a:buSzPct val="100000"/>
              <a:buFontTx/>
              <a:buAutoNum type="arabicPeriod" startAt="1"/>
            </a:pPr>
            <a:r>
              <a:rPr lang="en-US" sz="1450" b="1" dirty="0">
                <a:solidFill>
                  <a:srgbClr val="1F2A3A"/>
                </a:solidFill>
                <a:latin typeface="Nunito Sans" pitchFamily="34" charset="0"/>
                <a:ea typeface="Nunito Sans" pitchFamily="34" charset="-122"/>
                <a:cs typeface="Nunito Sans" pitchFamily="34" charset="-120"/>
              </a:rPr>
              <a:t>Reflexión</a:t>
            </a:r>
            <a:r>
              <a:rPr lang="en-US" sz="1450" dirty="0">
                <a:solidFill>
                  <a:srgbClr val="1F2A3A"/>
                </a:solidFill>
                <a:latin typeface="Nunito Sans" pitchFamily="34" charset="0"/>
                <a:ea typeface="Nunito Sans" pitchFamily="34" charset="-122"/>
                <a:cs typeface="Nunito Sans" pitchFamily="34" charset="-120"/>
              </a:rPr>
              <a:t> (5 a 10 líneas): qué cambió, en qué ayudó la IA y qué decidiste vos.</a:t>
            </a:r>
            <a:endParaRPr lang="en-US" sz="1450" dirty="0"/>
          </a:p>
        </p:txBody>
      </p:sp>
      <p:sp>
        <p:nvSpPr>
          <p:cNvPr id="6" name="Text 4"/>
          <p:cNvSpPr/>
          <p:nvPr/>
        </p:nvSpPr>
        <p:spPr>
          <a:xfrm>
            <a:off x="812800" y="4261148"/>
            <a:ext cx="1088339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A3561A"/>
                </a:solidFill>
                <a:latin typeface="Nunito Sans" pitchFamily="34" charset="0"/>
                <a:ea typeface="Nunito Sans" pitchFamily="34" charset="-122"/>
                <a:cs typeface="Nunito Sans" pitchFamily="34" charset="-120"/>
              </a:rPr>
              <a:t>Entrega:</a:t>
            </a:r>
            <a:r>
              <a:rPr lang="en-US" sz="1400" dirty="0">
                <a:solidFill>
                  <a:srgbClr val="1F2A3A"/>
                </a:solidFill>
                <a:latin typeface="Nunito Sans" pitchFamily="34" charset="0"/>
                <a:ea typeface="Nunito Sans" pitchFamily="34" charset="-122"/>
                <a:cs typeface="Nunito Sans" pitchFamily="34" charset="-120"/>
              </a:rPr>
              <a:t> por </a:t>
            </a:r>
            <a:r>
              <a:rPr lang="en-US" sz="1400" b="1" dirty="0">
                <a:solidFill>
                  <a:srgbClr val="1F2A3A"/>
                </a:solidFill>
                <a:latin typeface="Nunito Sans" pitchFamily="34" charset="0"/>
                <a:ea typeface="Nunito Sans" pitchFamily="34" charset="-122"/>
                <a:cs typeface="Nunito Sans" pitchFamily="34" charset="-120"/>
              </a:rPr>
              <a:t>www.epixum.com</a:t>
            </a:r>
            <a:r>
              <a:rPr lang="en-US" sz="1400" dirty="0">
                <a:solidFill>
                  <a:srgbClr val="1F2A3A"/>
                </a:solidFill>
                <a:latin typeface="Nunito Sans" pitchFamily="34" charset="0"/>
                <a:ea typeface="Nunito Sans" pitchFamily="34" charset="-122"/>
                <a:cs typeface="Nunito Sans" pitchFamily="34" charset="-120"/>
              </a:rPr>
              <a:t>, hasta el </a:t>
            </a:r>
            <a:r>
              <a:rPr lang="en-US" sz="1400" b="1" dirty="0">
                <a:solidFill>
                  <a:srgbClr val="1F2A3A"/>
                </a:solidFill>
                <a:latin typeface="Nunito Sans" pitchFamily="34" charset="0"/>
                <a:ea typeface="Nunito Sans" pitchFamily="34" charset="-122"/>
                <a:cs typeface="Nunito Sans" pitchFamily="34" charset="-120"/>
              </a:rPr>
              <a:t>jueves 15/10 a las 19:59</a:t>
            </a:r>
            <a:r>
              <a:rPr lang="en-US" sz="1400" dirty="0">
                <a:solidFill>
                  <a:srgbClr val="1F2A3A"/>
                </a:solidFill>
                <a:latin typeface="Nunito Sans" pitchFamily="34" charset="0"/>
                <a:ea typeface="Nunito Sans" pitchFamily="34" charset="-122"/>
                <a:cs typeface="Nunito Sans" pitchFamily="34" charset="-120"/>
              </a:rPr>
              <a: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FE8D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A"/>
                </a:solidFill>
                <a:latin typeface="Domine" pitchFamily="18" charset="0"/>
                <a:ea typeface="Domine" pitchFamily="18" charset="-122"/>
                <a:cs typeface="Domine" pitchFamily="18" charset="-120"/>
              </a:rPr>
              <a:t>Cómo se evalúa el práctico</a:t>
            </a:r>
            <a:endParaRPr lang="en-US" sz="3200" dirty="0"/>
          </a:p>
        </p:txBody>
      </p:sp>
      <p:sp>
        <p:nvSpPr>
          <p:cNvPr id="3" name="Text 1"/>
          <p:cNvSpPr/>
          <p:nvPr/>
        </p:nvSpPr>
        <p:spPr>
          <a:xfrm>
            <a:off x="876808" y="1534120"/>
            <a:ext cx="10811764" cy="15494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El problema formulado es claro y completa los cuatro elementos de la plantilla.</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La desagregación distingue partes y etapas, con un orden coherente.</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Revisa críticamente la propuesta de la IA y no la acepta sin más.</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Los prompts son acotados y aprovechan la estructura armada.</a:t>
            </a:r>
            <a:endParaRPr lang="en-US" sz="1600" dirty="0"/>
          </a:p>
          <a:p>
            <a:pPr algn="l" marL="189992" indent="-189992">
              <a:lnSpc>
                <a:spcPts val="2400"/>
              </a:lnSpc>
              <a:buSzPct val="100000"/>
              <a:buChar char="•"/>
            </a:pPr>
            <a:r>
              <a:rPr lang="en-US" sz="1600" dirty="0">
                <a:solidFill>
                  <a:srgbClr val="1F2A3A"/>
                </a:solidFill>
                <a:latin typeface="Nunito Sans" pitchFamily="34" charset="0"/>
                <a:ea typeface="Nunito Sans" pitchFamily="34" charset="-122"/>
                <a:cs typeface="Nunito Sans" pitchFamily="34" charset="-120"/>
              </a:rPr>
              <a:t>La reflexión muestra criterio propio.</a:t>
            </a:r>
            <a:endParaRPr lang="en-US" sz="1600" dirty="0"/>
          </a:p>
        </p:txBody>
      </p:sp>
      <p:sp>
        <p:nvSpPr>
          <p:cNvPr id="4" name="Shape 2"/>
          <p:cNvSpPr/>
          <p:nvPr/>
        </p:nvSpPr>
        <p:spPr>
          <a:xfrm>
            <a:off x="812800" y="3312120"/>
            <a:ext cx="10566400" cy="1348680"/>
          </a:xfrm>
          <a:prstGeom prst="roundRect">
            <a:avLst>
              <a:gd name="adj" fmla="val 9417"/>
            </a:avLst>
          </a:prstGeom>
          <a:solidFill>
            <a:srgbClr val="1F2A3A"/>
          </a:solidFill>
          <a:ln/>
        </p:spPr>
      </p:sp>
      <p:sp>
        <p:nvSpPr>
          <p:cNvPr id="5" name="Text 3"/>
          <p:cNvSpPr/>
          <p:nvPr/>
        </p:nvSpPr>
        <p:spPr>
          <a:xfrm>
            <a:off x="1066800" y="3566120"/>
            <a:ext cx="1036015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9A4A"/>
                </a:solidFill>
                <a:latin typeface="Nunito Sans" pitchFamily="34" charset="0"/>
                <a:ea typeface="Nunito Sans" pitchFamily="34" charset="-122"/>
                <a:cs typeface="Nunito Sans" pitchFamily="34" charset="-120"/>
              </a:rPr>
              <a:t>RECOMENDACIÓN</a:t>
            </a:r>
            <a:endParaRPr lang="en-US" sz="1300" dirty="0"/>
          </a:p>
        </p:txBody>
      </p:sp>
      <p:sp>
        <p:nvSpPr>
          <p:cNvPr id="6" name="Text 4"/>
          <p:cNvSpPr/>
          <p:nvPr/>
        </p:nvSpPr>
        <p:spPr>
          <a:xfrm>
            <a:off x="1066800" y="3873401"/>
            <a:ext cx="1036015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4EE"/>
                </a:solidFill>
                <a:latin typeface="Nunito Sans" pitchFamily="34" charset="0"/>
                <a:ea typeface="Nunito Sans" pitchFamily="34" charset="-122"/>
                <a:cs typeface="Nunito Sans" pitchFamily="34" charset="-120"/>
              </a:rPr>
              <a:t>Elegí un proyecto mediano y concreto: una mudanza, preparar una materia, un emprendimiento chico o un evento familiar. Si es muy chico no hay nada que desagregar; si es muy grande, no entra en un práctico.</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F2A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9A4A"/>
          </a:solidFill>
          <a:ln/>
        </p:spPr>
      </p:sp>
      <p:sp>
        <p:nvSpPr>
          <p:cNvPr id="3" name="Text 1"/>
          <p:cNvSpPr/>
          <p:nvPr>
            <p:ph type="title"/>
          </p:nvPr>
        </p:nvSpPr>
        <p:spPr>
          <a:xfrm>
            <a:off x="812800" y="16345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4EE"/>
                </a:solidFill>
                <a:latin typeface="Domine" pitchFamily="18" charset="0"/>
                <a:ea typeface="Domine" pitchFamily="18" charset="-122"/>
                <a:cs typeface="Domine" pitchFamily="18" charset="-120"/>
              </a:rPr>
              <a:t>¡Gracias!</a:t>
            </a:r>
            <a:endParaRPr lang="en-US" sz="6000" dirty="0"/>
          </a:p>
        </p:txBody>
      </p:sp>
      <p:sp>
        <p:nvSpPr>
          <p:cNvPr id="4" name="Text 2"/>
          <p:cNvSpPr/>
          <p:nvPr/>
        </p:nvSpPr>
        <p:spPr>
          <a:xfrm>
            <a:off x="812800" y="2790230"/>
            <a:ext cx="91567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3DE"/>
                </a:solidFill>
                <a:latin typeface="Nunito Sans" pitchFamily="34" charset="0"/>
                <a:ea typeface="Nunito Sans" pitchFamily="34" charset="-122"/>
                <a:cs typeface="Nunito Sans" pitchFamily="34" charset="-120"/>
              </a:rPr>
              <a:t>Hoy vimos cómo plantear un problema antes de pedirle ayuda a la IA.</a:t>
            </a:r>
            <a:endParaRPr lang="en-US" sz="2000" dirty="0"/>
          </a:p>
        </p:txBody>
      </p:sp>
      <p:sp>
        <p:nvSpPr>
          <p:cNvPr id="5" name="Shape 3"/>
          <p:cNvSpPr/>
          <p:nvPr/>
        </p:nvSpPr>
        <p:spPr>
          <a:xfrm>
            <a:off x="812800" y="3501430"/>
            <a:ext cx="5156200" cy="1722041"/>
          </a:xfrm>
          <a:prstGeom prst="roundRect">
            <a:avLst>
              <a:gd name="adj" fmla="val 7375"/>
            </a:avLst>
          </a:prstGeom>
          <a:solidFill>
            <a:srgbClr val="2A3749"/>
          </a:solidFill>
          <a:ln/>
        </p:spPr>
      </p:sp>
      <p:sp>
        <p:nvSpPr>
          <p:cNvPr id="6" name="Text 4"/>
          <p:cNvSpPr/>
          <p:nvPr/>
        </p:nvSpPr>
        <p:spPr>
          <a:xfrm>
            <a:off x="1066800" y="3755430"/>
            <a:ext cx="4787646"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9A4A"/>
                </a:solidFill>
                <a:latin typeface="Nunito Sans" pitchFamily="34" charset="0"/>
                <a:ea typeface="Nunito Sans" pitchFamily="34" charset="-122"/>
                <a:cs typeface="Nunito Sans" pitchFamily="34" charset="-120"/>
              </a:rPr>
              <a:t>PRÓXIMA CLASE</a:t>
            </a:r>
            <a:endParaRPr lang="en-US" sz="1300" dirty="0"/>
          </a:p>
        </p:txBody>
      </p:sp>
      <p:sp>
        <p:nvSpPr>
          <p:cNvPr id="7" name="Text 5"/>
          <p:cNvSpPr/>
          <p:nvPr/>
        </p:nvSpPr>
        <p:spPr>
          <a:xfrm>
            <a:off x="1066800" y="4062710"/>
            <a:ext cx="4787646"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7F4EE"/>
                </a:solidFill>
                <a:latin typeface="Nunito Sans" pitchFamily="34" charset="0"/>
                <a:ea typeface="Nunito Sans" pitchFamily="34" charset="-122"/>
                <a:cs typeface="Nunito Sans" pitchFamily="34" charset="-120"/>
              </a:rPr>
              <a:t>¿Le creo o no? Cómo evaluar y verificar lo que responde la IA</a:t>
            </a:r>
            <a:endParaRPr lang="en-US" sz="1800" dirty="0"/>
          </a:p>
        </p:txBody>
      </p:sp>
      <p:sp>
        <p:nvSpPr>
          <p:cNvPr id="8" name="Shape 6"/>
          <p:cNvSpPr/>
          <p:nvPr/>
        </p:nvSpPr>
        <p:spPr>
          <a:xfrm>
            <a:off x="6223000" y="3501430"/>
            <a:ext cx="5156200" cy="1722041"/>
          </a:xfrm>
          <a:prstGeom prst="roundRect">
            <a:avLst>
              <a:gd name="adj" fmla="val 7375"/>
            </a:avLst>
          </a:prstGeom>
          <a:solidFill>
            <a:srgbClr val="2A3749"/>
          </a:solidFill>
          <a:ln/>
        </p:spPr>
      </p:sp>
      <p:sp>
        <p:nvSpPr>
          <p:cNvPr id="9" name="Text 7"/>
          <p:cNvSpPr/>
          <p:nvPr/>
        </p:nvSpPr>
        <p:spPr>
          <a:xfrm>
            <a:off x="6477000" y="3755430"/>
            <a:ext cx="4787646"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9A4A"/>
                </a:solidFill>
                <a:latin typeface="Nunito Sans" pitchFamily="34" charset="0"/>
                <a:ea typeface="Nunito Sans" pitchFamily="34" charset="-122"/>
                <a:cs typeface="Nunito Sans" pitchFamily="34" charset="-120"/>
              </a:rPr>
              <a:t>PARA LA PRÓXIMA</a:t>
            </a:r>
            <a:endParaRPr lang="en-US" sz="1300" dirty="0"/>
          </a:p>
        </p:txBody>
      </p:sp>
      <p:sp>
        <p:nvSpPr>
          <p:cNvPr id="10" name="Text 8"/>
          <p:cNvSpPr/>
          <p:nvPr/>
        </p:nvSpPr>
        <p:spPr>
          <a:xfrm>
            <a:off x="6477000" y="4062710"/>
            <a:ext cx="4787646"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7F4EE"/>
                </a:solidFill>
                <a:latin typeface="Nunito Sans" pitchFamily="34" charset="0"/>
                <a:ea typeface="Nunito Sans" pitchFamily="34" charset="-122"/>
                <a:cs typeface="Nunito Sans" pitchFamily="34" charset="-120"/>
              </a:rPr>
              <a:t>Entregar el trabajo práctico n.º 1</a:t>
            </a:r>
            <a:endParaRPr lang="en-US" sz="1800" dirty="0"/>
          </a:p>
        </p:txBody>
      </p:sp>
      <p:sp>
        <p:nvSpPr>
          <p:cNvPr id="11" name="Text 9"/>
          <p:cNvSpPr/>
          <p:nvPr/>
        </p:nvSpPr>
        <p:spPr>
          <a:xfrm>
            <a:off x="6477000" y="443607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DE"/>
                </a:solidFill>
                <a:latin typeface="Nunito Sans" pitchFamily="34" charset="0"/>
                <a:ea typeface="Nunito Sans" pitchFamily="34" charset="-122"/>
                <a:cs typeface="Nunito Sans" pitchFamily="34" charset="-120"/>
              </a:rPr>
              <a:t>Por </a:t>
            </a:r>
            <a:r>
              <a:rPr lang="en-US" sz="1500" b="1" dirty="0">
                <a:solidFill>
                  <a:srgbClr val="F7F4EE"/>
                </a:solidFill>
                <a:latin typeface="Nunito Sans" pitchFamily="34" charset="0"/>
                <a:ea typeface="Nunito Sans" pitchFamily="34" charset="-122"/>
                <a:cs typeface="Nunito Sans" pitchFamily="34" charset="-120"/>
              </a:rPr>
              <a:t>www.epixum.com</a:t>
            </a:r>
            <a:r>
              <a:rPr lang="en-US" sz="1500" dirty="0">
                <a:solidFill>
                  <a:srgbClr val="C9D3DE"/>
                </a:solidFill>
                <a:latin typeface="Nunito Sans" pitchFamily="34" charset="0"/>
                <a:ea typeface="Nunito Sans" pitchFamily="34" charset="-122"/>
                <a:cs typeface="Nunito Sans" pitchFamily="34" charset="-120"/>
              </a:rPr>
              <a:t>, hasta el </a:t>
            </a:r>
            <a:r>
              <a:rPr lang="en-US" sz="1500" b="1" dirty="0">
                <a:solidFill>
                  <a:srgbClr val="F7F4EE"/>
                </a:solidFill>
                <a:latin typeface="Nunito Sans" pitchFamily="34" charset="0"/>
                <a:ea typeface="Nunito Sans" pitchFamily="34" charset="-122"/>
                <a:cs typeface="Nunito Sans" pitchFamily="34" charset="-120"/>
              </a:rPr>
              <a:t>jueves 15/10 a las 19:59</a:t>
            </a:r>
            <a:endParaRPr lang="en-US" sz="1500" dirty="0"/>
          </a:p>
        </p:txBody>
      </p:sp>
    </p:spTree>
  </p:cSld>
  <p:clrMapOvr>
    <a:masterClrMapping/>
  </p:clrMapOvr>
</p:sld>
</file>

<file path=ppt/theme/theme1.xml><?xml version="1.0" encoding="utf-8"?>
<a:theme xmlns:a="http://schemas.openxmlformats.org/drawingml/2006/main" name="Clase 1: Del problema a los pasos">
  <a:themeElements>
    <a:clrScheme name="Clase 1: Del problema a los pasos">
      <a:dk1>
        <a:srgbClr val="1F2A3A"/>
      </a:dk1>
      <a:lt1>
        <a:srgbClr val="F7F4EE"/>
      </a:lt1>
      <a:dk2>
        <a:srgbClr val="555D67"/>
      </a:dk2>
      <a:lt2>
        <a:srgbClr val="E1E0DC"/>
      </a:lt2>
      <a:accent1>
        <a:srgbClr val="2F6F8F"/>
      </a:accent1>
      <a:accent2>
        <a:srgbClr val="A3561A"/>
      </a:accent2>
      <a:accent3>
        <a:srgbClr val="E89A4A"/>
      </a:accent3>
      <a:accent4>
        <a:srgbClr val="FBE3C9"/>
      </a:accent4>
      <a:accent5>
        <a:srgbClr val="4A5568"/>
      </a:accent5>
      <a:accent6>
        <a:srgbClr val="C9D3DE"/>
      </a:accent6>
      <a:hlink>
        <a:srgbClr val="0563C1"/>
      </a:hlink>
      <a:folHlink>
        <a:srgbClr val="954F72"/>
      </a:folHlink>
    </a:clrScheme>
    <a:fontScheme name="Clase 1: Del problema a los pasos">
      <a:majorFont>
        <a:latin typeface="Nuni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Del problema a los pasos</dc:title>
  <dc:subject/>
  <dc:creator/>
  <cp:lastModifiedBy/>
  <cp:revision>1</cp:revision>
  <dcterms:created xsi:type="dcterms:W3CDTF">2026-10-08T22:40:52Z</dcterms:created>
  <dcterms:modified xsi:type="dcterms:W3CDTF">2026-10-08T22:40:52Z</dcterms:modified>
</cp:coreProperties>
</file>